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C38ED7-2B34-4D7C-BAC6-A7FA5A655B5B}" v="31" dt="2026-09-13T10:54:26.4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EB025689-223B-4636-B3EE-707A425CEE4E}" type="datetimeFigureOut">
              <a:t>13/09/2026</a:t>
            </a:fld>
            <a:endParaRPr lang="en-GB"/>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C5953B20-8ECC-4593-B559-982C6B0050D7}" type="slidenum">
              <a:t>‹#›</a:t>
            </a:fld>
            <a:endParaRPr lang="en-GB"/>
          </a:p>
        </p:txBody>
      </p:sp>
    </p:spTree>
    <p:extLst>
      <p:ext uri="{BB962C8B-B14F-4D97-AF65-F5344CB8AC3E}">
        <p14:creationId xmlns:p14="http://schemas.microsoft.com/office/powerpoint/2010/main" val="1902960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1117"/>
          </a:solidFill>
          <a:ln/>
        </p:spPr>
      </p:sp>
      <p:sp>
        <p:nvSpPr>
          <p:cNvPr id="3" name="Shape 1"/>
          <p:cNvSpPr/>
          <p:nvPr/>
        </p:nvSpPr>
        <p:spPr>
          <a:xfrm>
            <a:off x="5349240" y="1051560"/>
            <a:ext cx="868680" cy="868680"/>
          </a:xfrm>
          <a:prstGeom prst="ellipse">
            <a:avLst/>
          </a:prstGeom>
          <a:solidFill>
            <a:srgbClr val="1C2128"/>
          </a:solidFill>
          <a:ln/>
        </p:spPr>
      </p:sp>
      <p:pic>
        <p:nvPicPr>
          <p:cNvPr id="4" name="Image 0" descr="/home/claude/pptx_proj/icon_terminal_3FB950.png"/>
          <p:cNvPicPr>
            <a:picLocks noChangeAspect="1"/>
          </p:cNvPicPr>
          <p:nvPr/>
        </p:nvPicPr>
        <p:blipFill>
          <a:blip r:embed="rId3"/>
          <a:stretch>
            <a:fillRect/>
          </a:stretch>
        </p:blipFill>
        <p:spPr>
          <a:xfrm>
            <a:off x="5462168" y="1164488"/>
            <a:ext cx="642823" cy="642823"/>
          </a:xfrm>
          <a:prstGeom prst="rect">
            <a:avLst/>
          </a:prstGeom>
        </p:spPr>
      </p:pic>
      <p:sp>
        <p:nvSpPr>
          <p:cNvPr id="5" name="Text 2"/>
          <p:cNvSpPr txBox="1"/>
          <p:nvPr/>
        </p:nvSpPr>
        <p:spPr>
          <a:xfrm>
            <a:off x="914400" y="2331720"/>
            <a:ext cx="10360152" cy="1554480"/>
          </a:xfrm>
          <a:prstGeom prst="rect">
            <a:avLst/>
          </a:prstGeom>
          <a:noFill/>
          <a:ln/>
        </p:spPr>
        <p:txBody>
          <a:bodyPr wrap="square" rtlCol="0" anchor="ctr"/>
          <a:lstStyle/>
          <a:p>
            <a:pPr marL="0" indent="0" algn="ctr">
              <a:lnSpc>
                <a:spcPct val="108000"/>
              </a:lnSpc>
              <a:buNone/>
            </a:pPr>
            <a:r>
              <a:rPr lang="en-US" sz="3400" b="1" dirty="0">
                <a:solidFill>
                  <a:srgbClr val="E6EDF3"/>
                </a:solidFill>
                <a:latin typeface="Cambria" pitchFamily="34" charset="0"/>
                <a:ea typeface="Cambria" pitchFamily="34" charset="-122"/>
                <a:cs typeface="Cambria" pitchFamily="34" charset="-120"/>
              </a:rPr>
              <a:t>LINUX SYSTEM INFORMATION AND</a:t>
            </a:r>
            <a:endParaRPr lang="en-US" sz="3400" dirty="0"/>
          </a:p>
          <a:p>
            <a:pPr marL="0" indent="0" algn="ctr">
              <a:lnSpc>
                <a:spcPct val="108000"/>
              </a:lnSpc>
              <a:buNone/>
            </a:pPr>
            <a:r>
              <a:rPr lang="en-US" sz="3400" b="1" dirty="0">
                <a:solidFill>
                  <a:srgbClr val="E6EDF3"/>
                </a:solidFill>
                <a:latin typeface="Cambria" pitchFamily="34" charset="0"/>
                <a:ea typeface="Cambria" pitchFamily="34" charset="-122"/>
                <a:cs typeface="Cambria" pitchFamily="34" charset="-120"/>
              </a:rPr>
              <a:t>RESOURCE MONITORING TOOL</a:t>
            </a:r>
            <a:endParaRPr lang="en-US" sz="3400" dirty="0"/>
          </a:p>
        </p:txBody>
      </p:sp>
      <p:sp>
        <p:nvSpPr>
          <p:cNvPr id="6" name="Text 3"/>
          <p:cNvSpPr txBox="1"/>
          <p:nvPr/>
        </p:nvSpPr>
        <p:spPr>
          <a:xfrm>
            <a:off x="1645920" y="3794760"/>
            <a:ext cx="8897112" cy="548640"/>
          </a:xfrm>
          <a:prstGeom prst="rect">
            <a:avLst/>
          </a:prstGeom>
          <a:noFill/>
          <a:ln/>
        </p:spPr>
        <p:txBody>
          <a:bodyPr wrap="square" rtlCol="0" anchor="ctr"/>
          <a:lstStyle/>
          <a:p>
            <a:pPr marL="0" indent="0" algn="ctr">
              <a:buNone/>
            </a:pPr>
            <a:r>
              <a:rPr lang="en-US" sz="1500" i="1" dirty="0">
                <a:solidFill>
                  <a:srgbClr val="3FB950"/>
                </a:solidFill>
                <a:latin typeface="Calibri" pitchFamily="34" charset="0"/>
                <a:ea typeface="Calibri" pitchFamily="34" charset="-122"/>
                <a:cs typeface="Calibri" pitchFamily="34" charset="-120"/>
              </a:rPr>
              <a:t>A real-time diagnostics utility for monitoring CPU, memory, disk, and network activity on Linux systems</a:t>
            </a:r>
            <a:endParaRPr lang="en-US" sz="1500" dirty="0"/>
          </a:p>
        </p:txBody>
      </p:sp>
      <p:sp>
        <p:nvSpPr>
          <p:cNvPr id="7" name="Shape 4"/>
          <p:cNvSpPr/>
          <p:nvPr/>
        </p:nvSpPr>
        <p:spPr>
          <a:xfrm>
            <a:off x="5175504" y="4709160"/>
            <a:ext cx="1828800" cy="0"/>
          </a:xfrm>
          <a:prstGeom prst="line">
            <a:avLst/>
          </a:prstGeom>
          <a:noFill/>
          <a:ln w="12700">
            <a:solidFill>
              <a:srgbClr val="30363D"/>
            </a:solidFill>
            <a:prstDash val="solid"/>
          </a:ln>
        </p:spPr>
      </p:sp>
      <p:sp>
        <p:nvSpPr>
          <p:cNvPr id="8" name="Text 5"/>
          <p:cNvSpPr txBox="1"/>
          <p:nvPr/>
        </p:nvSpPr>
        <p:spPr>
          <a:xfrm>
            <a:off x="914400" y="5074920"/>
            <a:ext cx="10360152" cy="320040"/>
          </a:xfrm>
          <a:prstGeom prst="rect">
            <a:avLst/>
          </a:prstGeom>
          <a:noFill/>
          <a:ln/>
        </p:spPr>
        <p:txBody>
          <a:bodyPr wrap="square" lIns="91440" tIns="45720" rIns="91440" bIns="45720" rtlCol="0" anchor="ctr"/>
          <a:lstStyle/>
          <a:p>
            <a:pPr algn="ctr"/>
            <a:r>
              <a:rPr lang="en-US" sz="1300" b="1" dirty="0">
                <a:solidFill>
                  <a:srgbClr val="8B949E"/>
                </a:solidFill>
                <a:latin typeface="Calibri"/>
                <a:ea typeface="Calibri"/>
                <a:cs typeface="Calibri"/>
              </a:rPr>
              <a:t>Student Name: </a:t>
            </a:r>
            <a:r>
              <a:rPr lang="en-US" sz="1300" dirty="0">
                <a:solidFill>
                  <a:srgbClr val="E6EDF3"/>
                </a:solidFill>
                <a:latin typeface="Calibri"/>
                <a:ea typeface="Calibri"/>
                <a:cs typeface="Calibri"/>
              </a:rPr>
              <a:t>[B. Sandeep]</a:t>
            </a:r>
            <a:endParaRPr lang="en-US" sz="1300" dirty="0"/>
          </a:p>
        </p:txBody>
      </p:sp>
      <p:sp>
        <p:nvSpPr>
          <p:cNvPr id="9" name="Text 6"/>
          <p:cNvSpPr txBox="1"/>
          <p:nvPr/>
        </p:nvSpPr>
        <p:spPr>
          <a:xfrm>
            <a:off x="914400" y="5413248"/>
            <a:ext cx="10360152" cy="320040"/>
          </a:xfrm>
          <a:prstGeom prst="rect">
            <a:avLst/>
          </a:prstGeom>
          <a:noFill/>
          <a:ln/>
        </p:spPr>
        <p:txBody>
          <a:bodyPr wrap="square" lIns="91440" tIns="45720" rIns="91440" bIns="45720" rtlCol="0" anchor="ctr"/>
          <a:lstStyle/>
          <a:p>
            <a:pPr marL="0" indent="0" algn="ctr">
              <a:buNone/>
            </a:pPr>
            <a:r>
              <a:rPr lang="en-US" sz="1300" b="1" dirty="0">
                <a:solidFill>
                  <a:srgbClr val="8B949E"/>
                </a:solidFill>
                <a:latin typeface="Calibri"/>
                <a:ea typeface="Calibri"/>
                <a:cs typeface="Calibri"/>
              </a:rPr>
              <a:t>Course: </a:t>
            </a:r>
            <a:r>
              <a:rPr lang="en-US" sz="1300" dirty="0">
                <a:solidFill>
                  <a:srgbClr val="E6EDF3"/>
                </a:solidFill>
                <a:latin typeface="Calibri"/>
                <a:ea typeface="Calibri"/>
                <a:cs typeface="Calibri"/>
              </a:rPr>
              <a:t>[OSSP /25CS2104E ]</a:t>
            </a:r>
            <a:endParaRPr lang="en-US" sz="1300" dirty="0">
              <a:latin typeface="Calibri"/>
              <a:ea typeface="Calibri"/>
              <a:cs typeface="Calibri"/>
            </a:endParaRPr>
          </a:p>
        </p:txBody>
      </p:sp>
      <p:sp>
        <p:nvSpPr>
          <p:cNvPr id="10" name="Text 7"/>
          <p:cNvSpPr txBox="1"/>
          <p:nvPr/>
        </p:nvSpPr>
        <p:spPr>
          <a:xfrm>
            <a:off x="914400" y="5751576"/>
            <a:ext cx="10360152" cy="320040"/>
          </a:xfrm>
          <a:prstGeom prst="rect">
            <a:avLst/>
          </a:prstGeom>
          <a:noFill/>
          <a:ln/>
        </p:spPr>
        <p:txBody>
          <a:bodyPr wrap="square" lIns="91440" tIns="45720" rIns="91440" bIns="45720" rtlCol="0" anchor="ctr"/>
          <a:lstStyle/>
          <a:p>
            <a:pPr algn="ctr"/>
            <a:r>
              <a:rPr lang="en-US" sz="1300" b="1" dirty="0">
                <a:solidFill>
                  <a:srgbClr val="8B949E"/>
                </a:solidFill>
                <a:latin typeface="Calibri"/>
                <a:ea typeface="Calibri"/>
                <a:cs typeface="Calibri"/>
              </a:rPr>
              <a:t>Institution: </a:t>
            </a:r>
            <a:r>
              <a:rPr lang="en-US" sz="1300" dirty="0">
                <a:solidFill>
                  <a:srgbClr val="E6EDF3"/>
                </a:solidFill>
                <a:latin typeface="Calibri"/>
                <a:ea typeface="Calibri"/>
                <a:cs typeface="Calibri"/>
              </a:rPr>
              <a:t>[KLH University]</a:t>
            </a:r>
            <a:endParaRPr lang="en-US" sz="1300" dirty="0">
              <a:latin typeface="Calibri"/>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5486400" cy="274320"/>
          </a:xfrm>
          <a:prstGeom prst="rect">
            <a:avLst/>
          </a:prstGeom>
          <a:noFill/>
          <a:ln/>
        </p:spPr>
        <p:txBody>
          <a:bodyPr wrap="square" rtlCol="0" anchor="ctr"/>
          <a:lstStyle/>
          <a:p>
            <a:pPr marL="0" indent="0">
              <a:buNone/>
            </a:pPr>
            <a:r>
              <a:rPr lang="en-US" sz="1100" b="1" kern="0" spc="200" dirty="0">
                <a:solidFill>
                  <a:srgbClr val="3FB950"/>
                </a:solidFill>
                <a:latin typeface="Calibri" pitchFamily="34" charset="0"/>
                <a:ea typeface="Calibri" pitchFamily="34" charset="-122"/>
                <a:cs typeface="Calibri" pitchFamily="34" charset="-120"/>
              </a:rPr>
              <a:t>OVERVIEW</a:t>
            </a:r>
            <a:endParaRPr lang="en-US" sz="1100" dirty="0"/>
          </a:p>
        </p:txBody>
      </p:sp>
      <p:sp>
        <p:nvSpPr>
          <p:cNvPr id="3" name="Text 1"/>
          <p:cNvSpPr txBox="1"/>
          <p:nvPr/>
        </p:nvSpPr>
        <p:spPr>
          <a:xfrm>
            <a:off x="548640" y="566928"/>
            <a:ext cx="7315200" cy="640080"/>
          </a:xfrm>
          <a:prstGeom prst="rect">
            <a:avLst/>
          </a:prstGeom>
          <a:noFill/>
          <a:ln/>
        </p:spPr>
        <p:txBody>
          <a:bodyPr wrap="square" rtlCol="0" anchor="ctr"/>
          <a:lstStyle/>
          <a:p>
            <a:pPr marL="0" indent="0">
              <a:buNone/>
            </a:pPr>
            <a:r>
              <a:rPr lang="en-US" sz="3200" b="1" dirty="0">
                <a:solidFill>
                  <a:srgbClr val="E6EDF3"/>
                </a:solidFill>
                <a:latin typeface="Cambria" pitchFamily="34" charset="0"/>
                <a:ea typeface="Cambria" pitchFamily="34" charset="-122"/>
                <a:cs typeface="Cambria" pitchFamily="34" charset="-120"/>
              </a:rPr>
              <a:t>Abstract</a:t>
            </a:r>
            <a:endParaRPr lang="en-US" sz="3200" dirty="0"/>
          </a:p>
        </p:txBody>
      </p:sp>
      <p:sp>
        <p:nvSpPr>
          <p:cNvPr id="4" name="Shape 2"/>
          <p:cNvSpPr/>
          <p:nvPr/>
        </p:nvSpPr>
        <p:spPr>
          <a:xfrm>
            <a:off x="548640" y="1417320"/>
            <a:ext cx="11091672" cy="4160520"/>
          </a:xfrm>
          <a:prstGeom prst="roundRect">
            <a:avLst>
              <a:gd name="adj" fmla="val 2637"/>
            </a:avLst>
          </a:prstGeom>
          <a:solidFill>
            <a:srgbClr val="161B22"/>
          </a:solidFill>
          <a:ln/>
        </p:spPr>
      </p:sp>
      <p:sp>
        <p:nvSpPr>
          <p:cNvPr id="5" name="Text 3"/>
          <p:cNvSpPr txBox="1"/>
          <p:nvPr/>
        </p:nvSpPr>
        <p:spPr>
          <a:xfrm>
            <a:off x="960120" y="1737360"/>
            <a:ext cx="10268712" cy="3566160"/>
          </a:xfrm>
          <a:prstGeom prst="rect">
            <a:avLst/>
          </a:prstGeom>
          <a:noFill/>
          <a:ln/>
        </p:spPr>
        <p:txBody>
          <a:bodyPr wrap="square" rtlCol="0" anchor="t"/>
          <a:lstStyle/>
          <a:p>
            <a:pPr marL="0" indent="0" algn="l">
              <a:lnSpc>
                <a:spcPct val="132000"/>
              </a:lnSpc>
              <a:buNone/>
            </a:pPr>
            <a:r>
              <a:rPr lang="en-US" sz="1400" dirty="0">
                <a:solidFill>
                  <a:srgbClr val="E6EDF3"/>
                </a:solidFill>
                <a:latin typeface="Calibri" pitchFamily="34" charset="0"/>
                <a:ea typeface="Calibri" pitchFamily="34" charset="-122"/>
                <a:cs typeface="Calibri" pitchFamily="34" charset="-120"/>
              </a:rPr>
              <a:t>This project presents the design and development of a Linux System Information and Resource Monitoring Tool that provides real-time insight into a system's operational state. It collects and displays critical metrics — CPU utilization, memory (RAM/swap) usage, disk I/O and storage, network activity, running processes, and uptime — by reading directly from the /proc and /sys filesystems and standard system calls, keeping overhead low and avoiding unnecessary dependencies. Collected data is processed into human-readable form and presented through a CLI or lightweight terminal dashboard, enabling administrators and developers to proactively spot anomalies such as memory leaks or runaway processes and make informed decisions on optimization and capacity planning. The design emphasizes modularity, allowing each monitoring component to be extended independently, and portability across common Linux distributions. Implementation draws on system-level programming, efficient data structures for metric storage, and algorithms for real-time aggregation and refresh, while keeping the monitor itself lightweight so it does not skew the very resources it observes. Overall, the project demonstrates practical application of operating systems concepts, Linux internals, and software engineering principles in a functional diagnostic utility suited to both academic learning and real-world system administration.</a:t>
            </a:r>
            <a:endParaRPr lang="en-US" sz="1400" dirty="0"/>
          </a:p>
        </p:txBody>
      </p:sp>
      <p:sp>
        <p:nvSpPr>
          <p:cNvPr id="6" name="Text 4"/>
          <p:cNvSpPr txBox="1"/>
          <p:nvPr/>
        </p:nvSpPr>
        <p:spPr>
          <a:xfrm>
            <a:off x="457200" y="6519672"/>
            <a:ext cx="5486400" cy="274320"/>
          </a:xfrm>
          <a:prstGeom prst="rect">
            <a:avLst/>
          </a:prstGeom>
          <a:noFill/>
          <a:ln/>
        </p:spPr>
        <p:txBody>
          <a:bodyPr wrap="square" rtlCol="0" anchor="ctr"/>
          <a:lstStyle/>
          <a:p>
            <a:pPr marL="0" indent="0">
              <a:buNone/>
            </a:pPr>
            <a:r>
              <a:rPr lang="en-US" sz="900" kern="0" spc="100" dirty="0">
                <a:solidFill>
                  <a:srgbClr val="8B949E"/>
                </a:solidFill>
                <a:latin typeface="Calibri" pitchFamily="34" charset="0"/>
                <a:ea typeface="Calibri" pitchFamily="34" charset="-122"/>
                <a:cs typeface="Calibri" pitchFamily="34" charset="-120"/>
              </a:rPr>
              <a:t>LINUX SYSTEM MONITORING TOOL</a:t>
            </a:r>
            <a:endParaRPr lang="en-US" sz="900" dirty="0"/>
          </a:p>
        </p:txBody>
      </p:sp>
      <p:sp>
        <p:nvSpPr>
          <p:cNvPr id="7" name="Text 5"/>
          <p:cNvSpPr txBox="1"/>
          <p:nvPr/>
        </p:nvSpPr>
        <p:spPr>
          <a:xfrm>
            <a:off x="11338560" y="6519672"/>
            <a:ext cx="365760" cy="274320"/>
          </a:xfrm>
          <a:prstGeom prst="rect">
            <a:avLst/>
          </a:prstGeom>
          <a:noFill/>
          <a:ln/>
        </p:spPr>
        <p:txBody>
          <a:bodyPr wrap="square" rtlCol="0" anchor="ctr"/>
          <a:lstStyle/>
          <a:p>
            <a:pPr marL="0" indent="0" algn="r">
              <a:buNone/>
            </a:pPr>
            <a:r>
              <a:rPr lang="en-US" sz="900" dirty="0">
                <a:solidFill>
                  <a:srgbClr val="8B949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5486400" cy="274320"/>
          </a:xfrm>
          <a:prstGeom prst="rect">
            <a:avLst/>
          </a:prstGeom>
          <a:noFill/>
          <a:ln/>
        </p:spPr>
        <p:txBody>
          <a:bodyPr wrap="square" rtlCol="0" anchor="ctr"/>
          <a:lstStyle/>
          <a:p>
            <a:pPr marL="0" indent="0">
              <a:buNone/>
            </a:pPr>
            <a:r>
              <a:rPr lang="en-US" sz="1100" b="1" kern="0" spc="200" dirty="0">
                <a:solidFill>
                  <a:srgbClr val="3FB950"/>
                </a:solidFill>
                <a:latin typeface="Calibri" pitchFamily="34" charset="0"/>
                <a:ea typeface="Calibri" pitchFamily="34" charset="-122"/>
                <a:cs typeface="Calibri" pitchFamily="34" charset="-120"/>
              </a:rPr>
              <a:t>INTRODUCTION</a:t>
            </a:r>
            <a:endParaRPr lang="en-US" sz="1100" dirty="0"/>
          </a:p>
        </p:txBody>
      </p:sp>
      <p:sp>
        <p:nvSpPr>
          <p:cNvPr id="3" name="Text 1"/>
          <p:cNvSpPr txBox="1"/>
          <p:nvPr/>
        </p:nvSpPr>
        <p:spPr>
          <a:xfrm>
            <a:off x="548640" y="566928"/>
            <a:ext cx="7315200" cy="640080"/>
          </a:xfrm>
          <a:prstGeom prst="rect">
            <a:avLst/>
          </a:prstGeom>
          <a:noFill/>
          <a:ln/>
        </p:spPr>
        <p:txBody>
          <a:bodyPr wrap="square" rtlCol="0" anchor="ctr"/>
          <a:lstStyle/>
          <a:p>
            <a:pPr marL="0" indent="0">
              <a:buNone/>
            </a:pPr>
            <a:r>
              <a:rPr lang="en-US" sz="3200" b="1" dirty="0">
                <a:solidFill>
                  <a:srgbClr val="E6EDF3"/>
                </a:solidFill>
                <a:latin typeface="Cambria" pitchFamily="34" charset="0"/>
                <a:ea typeface="Cambria" pitchFamily="34" charset="-122"/>
                <a:cs typeface="Cambria" pitchFamily="34" charset="-120"/>
              </a:rPr>
              <a:t>The Problem</a:t>
            </a:r>
            <a:endParaRPr lang="en-US" sz="3200" dirty="0"/>
          </a:p>
        </p:txBody>
      </p:sp>
      <p:sp>
        <p:nvSpPr>
          <p:cNvPr id="4" name="Text 2"/>
          <p:cNvSpPr txBox="1"/>
          <p:nvPr/>
        </p:nvSpPr>
        <p:spPr>
          <a:xfrm>
            <a:off x="548640" y="1417320"/>
            <a:ext cx="6309360" cy="1234440"/>
          </a:xfrm>
          <a:prstGeom prst="rect">
            <a:avLst/>
          </a:prstGeom>
          <a:noFill/>
          <a:ln/>
        </p:spPr>
        <p:txBody>
          <a:bodyPr wrap="square" rtlCol="0" anchor="ctr"/>
          <a:lstStyle/>
          <a:p>
            <a:pPr marL="0" indent="0">
              <a:lnSpc>
                <a:spcPct val="125000"/>
              </a:lnSpc>
              <a:buNone/>
            </a:pPr>
            <a:r>
              <a:rPr lang="en-US" sz="1450" dirty="0">
                <a:solidFill>
                  <a:srgbClr val="E6EDF3"/>
                </a:solidFill>
                <a:latin typeface="Calibri" pitchFamily="34" charset="0"/>
                <a:ea typeface="Calibri" pitchFamily="34" charset="-122"/>
                <a:cs typeface="Calibri" pitchFamily="34" charset="-120"/>
              </a:rPr>
              <a:t>Modern Linux systems power servers, workstations, and embedded devices at massive scale — yet administrators and developers often lack lightweight, accessible ways to see what their machines are actually doing in real time.</a:t>
            </a:r>
            <a:endParaRPr lang="en-US" sz="1450" dirty="0"/>
          </a:p>
        </p:txBody>
      </p:sp>
      <p:sp>
        <p:nvSpPr>
          <p:cNvPr id="5" name="Text 3"/>
          <p:cNvSpPr txBox="1"/>
          <p:nvPr/>
        </p:nvSpPr>
        <p:spPr>
          <a:xfrm>
            <a:off x="548640" y="2788920"/>
            <a:ext cx="6309360" cy="1097280"/>
          </a:xfrm>
          <a:prstGeom prst="rect">
            <a:avLst/>
          </a:prstGeom>
          <a:noFill/>
          <a:ln/>
        </p:spPr>
        <p:txBody>
          <a:bodyPr wrap="square" rtlCol="0" anchor="ctr"/>
          <a:lstStyle/>
          <a:p>
            <a:pPr marL="0" indent="0">
              <a:lnSpc>
                <a:spcPct val="125000"/>
              </a:lnSpc>
              <a:buNone/>
            </a:pPr>
            <a:r>
              <a:rPr lang="en-US" sz="1450" dirty="0">
                <a:solidFill>
                  <a:srgbClr val="8B949E"/>
                </a:solidFill>
                <a:latin typeface="Calibri" pitchFamily="34" charset="0"/>
                <a:ea typeface="Calibri" pitchFamily="34" charset="-122"/>
                <a:cs typeface="Calibri" pitchFamily="34" charset="-120"/>
              </a:rPr>
              <a:t>Without continuous visibility into CPU load, memory pressure, disk I/O, and network activity, issues like runaway processes, memory leaks, and storage exhaustion go unnoticed until systems fail.</a:t>
            </a:r>
            <a:endParaRPr lang="en-US" sz="1450" dirty="0"/>
          </a:p>
        </p:txBody>
      </p:sp>
      <p:sp>
        <p:nvSpPr>
          <p:cNvPr id="6" name="Shape 4"/>
          <p:cNvSpPr/>
          <p:nvPr/>
        </p:nvSpPr>
        <p:spPr>
          <a:xfrm>
            <a:off x="7269480" y="1280160"/>
            <a:ext cx="4389120" cy="4480560"/>
          </a:xfrm>
          <a:prstGeom prst="roundRect">
            <a:avLst>
              <a:gd name="adj" fmla="val 2500"/>
            </a:avLst>
          </a:prstGeom>
          <a:solidFill>
            <a:srgbClr val="161B22"/>
          </a:solidFill>
          <a:ln/>
        </p:spPr>
      </p:sp>
      <p:sp>
        <p:nvSpPr>
          <p:cNvPr id="7" name="Text 5"/>
          <p:cNvSpPr txBox="1"/>
          <p:nvPr/>
        </p:nvSpPr>
        <p:spPr>
          <a:xfrm>
            <a:off x="7589520" y="1508760"/>
            <a:ext cx="3749040" cy="320040"/>
          </a:xfrm>
          <a:prstGeom prst="rect">
            <a:avLst/>
          </a:prstGeom>
          <a:noFill/>
          <a:ln/>
        </p:spPr>
        <p:txBody>
          <a:bodyPr wrap="square" rtlCol="0" anchor="ctr"/>
          <a:lstStyle/>
          <a:p>
            <a:pPr marL="0" indent="0">
              <a:buNone/>
            </a:pPr>
            <a:r>
              <a:rPr lang="en-US" sz="1100" b="1" kern="0" spc="150" dirty="0">
                <a:solidFill>
                  <a:srgbClr val="3FB950"/>
                </a:solidFill>
                <a:latin typeface="Calibri" pitchFamily="34" charset="0"/>
                <a:ea typeface="Calibri" pitchFamily="34" charset="-122"/>
                <a:cs typeface="Calibri" pitchFamily="34" charset="-120"/>
              </a:rPr>
              <a:t>RESOURCES TO WATCH</a:t>
            </a:r>
            <a:endParaRPr lang="en-US" sz="1100" dirty="0"/>
          </a:p>
        </p:txBody>
      </p:sp>
      <p:sp>
        <p:nvSpPr>
          <p:cNvPr id="8" name="Shape 6"/>
          <p:cNvSpPr/>
          <p:nvPr/>
        </p:nvSpPr>
        <p:spPr>
          <a:xfrm>
            <a:off x="7589520" y="2057400"/>
            <a:ext cx="475488" cy="475488"/>
          </a:xfrm>
          <a:prstGeom prst="ellipse">
            <a:avLst/>
          </a:prstGeom>
          <a:solidFill>
            <a:srgbClr val="1C2128"/>
          </a:solidFill>
          <a:ln/>
        </p:spPr>
      </p:sp>
      <p:pic>
        <p:nvPicPr>
          <p:cNvPr id="9" name="Image 0" descr="/home/claude/pptx_proj/icon_cpu_3FB950.png"/>
          <p:cNvPicPr>
            <a:picLocks noChangeAspect="1"/>
          </p:cNvPicPr>
          <p:nvPr/>
        </p:nvPicPr>
        <p:blipFill>
          <a:blip r:embed="rId3"/>
          <a:stretch>
            <a:fillRect/>
          </a:stretch>
        </p:blipFill>
        <p:spPr>
          <a:xfrm>
            <a:off x="7651333" y="2119213"/>
            <a:ext cx="351861" cy="351861"/>
          </a:xfrm>
          <a:prstGeom prst="rect">
            <a:avLst/>
          </a:prstGeom>
        </p:spPr>
      </p:pic>
      <p:sp>
        <p:nvSpPr>
          <p:cNvPr id="10" name="Text 7"/>
          <p:cNvSpPr txBox="1"/>
          <p:nvPr/>
        </p:nvSpPr>
        <p:spPr>
          <a:xfrm>
            <a:off x="8229600" y="2112264"/>
            <a:ext cx="3246120" cy="365760"/>
          </a:xfrm>
          <a:prstGeom prst="rect">
            <a:avLst/>
          </a:prstGeom>
          <a:noFill/>
          <a:ln/>
        </p:spPr>
        <p:txBody>
          <a:bodyPr wrap="square" rtlCol="0" anchor="ctr"/>
          <a:lstStyle/>
          <a:p>
            <a:pPr marL="0" indent="0">
              <a:buNone/>
            </a:pPr>
            <a:r>
              <a:rPr lang="en-US" sz="1400" dirty="0">
                <a:solidFill>
                  <a:srgbClr val="E6EDF3"/>
                </a:solidFill>
                <a:latin typeface="Calibri" pitchFamily="34" charset="0"/>
                <a:ea typeface="Calibri" pitchFamily="34" charset="-122"/>
                <a:cs typeface="Calibri" pitchFamily="34" charset="-120"/>
              </a:rPr>
              <a:t>CPU Utilization</a:t>
            </a:r>
            <a:endParaRPr lang="en-US" sz="1400" dirty="0"/>
          </a:p>
        </p:txBody>
      </p:sp>
      <p:sp>
        <p:nvSpPr>
          <p:cNvPr id="11" name="Shape 8"/>
          <p:cNvSpPr/>
          <p:nvPr/>
        </p:nvSpPr>
        <p:spPr>
          <a:xfrm>
            <a:off x="7589520" y="2880360"/>
            <a:ext cx="475488" cy="475488"/>
          </a:xfrm>
          <a:prstGeom prst="ellipse">
            <a:avLst/>
          </a:prstGeom>
          <a:solidFill>
            <a:srgbClr val="1C2128"/>
          </a:solidFill>
          <a:ln/>
        </p:spPr>
      </p:sp>
      <p:pic>
        <p:nvPicPr>
          <p:cNvPr id="12" name="Image 1" descr="/home/claude/pptx_proj/icon_memory_3FB950.png"/>
          <p:cNvPicPr>
            <a:picLocks noChangeAspect="1"/>
          </p:cNvPicPr>
          <p:nvPr/>
        </p:nvPicPr>
        <p:blipFill>
          <a:blip r:embed="rId4"/>
          <a:stretch>
            <a:fillRect/>
          </a:stretch>
        </p:blipFill>
        <p:spPr>
          <a:xfrm>
            <a:off x="7651333" y="2942173"/>
            <a:ext cx="351861" cy="351861"/>
          </a:xfrm>
          <a:prstGeom prst="rect">
            <a:avLst/>
          </a:prstGeom>
        </p:spPr>
      </p:pic>
      <p:sp>
        <p:nvSpPr>
          <p:cNvPr id="13" name="Text 9"/>
          <p:cNvSpPr txBox="1"/>
          <p:nvPr/>
        </p:nvSpPr>
        <p:spPr>
          <a:xfrm>
            <a:off x="8229600" y="2935224"/>
            <a:ext cx="3246120" cy="365760"/>
          </a:xfrm>
          <a:prstGeom prst="rect">
            <a:avLst/>
          </a:prstGeom>
          <a:noFill/>
          <a:ln/>
        </p:spPr>
        <p:txBody>
          <a:bodyPr wrap="square" rtlCol="0" anchor="ctr"/>
          <a:lstStyle/>
          <a:p>
            <a:pPr marL="0" indent="0">
              <a:buNone/>
            </a:pPr>
            <a:r>
              <a:rPr lang="en-US" sz="1400" dirty="0">
                <a:solidFill>
                  <a:srgbClr val="E6EDF3"/>
                </a:solidFill>
                <a:latin typeface="Calibri" pitchFamily="34" charset="0"/>
                <a:ea typeface="Calibri" pitchFamily="34" charset="-122"/>
                <a:cs typeface="Calibri" pitchFamily="34" charset="-120"/>
              </a:rPr>
              <a:t>Memory (RAM / Swap)</a:t>
            </a:r>
            <a:endParaRPr lang="en-US" sz="1400" dirty="0"/>
          </a:p>
        </p:txBody>
      </p:sp>
      <p:sp>
        <p:nvSpPr>
          <p:cNvPr id="14" name="Shape 10"/>
          <p:cNvSpPr/>
          <p:nvPr/>
        </p:nvSpPr>
        <p:spPr>
          <a:xfrm>
            <a:off x="7589520" y="3703320"/>
            <a:ext cx="475488" cy="475488"/>
          </a:xfrm>
          <a:prstGeom prst="ellipse">
            <a:avLst/>
          </a:prstGeom>
          <a:solidFill>
            <a:srgbClr val="1C2128"/>
          </a:solidFill>
          <a:ln/>
        </p:spPr>
      </p:sp>
      <p:pic>
        <p:nvPicPr>
          <p:cNvPr id="15" name="Image 2" descr="/home/claude/pptx_proj/icon_disk_3FB950.png"/>
          <p:cNvPicPr>
            <a:picLocks noChangeAspect="1"/>
          </p:cNvPicPr>
          <p:nvPr/>
        </p:nvPicPr>
        <p:blipFill>
          <a:blip r:embed="rId5"/>
          <a:stretch>
            <a:fillRect/>
          </a:stretch>
        </p:blipFill>
        <p:spPr>
          <a:xfrm>
            <a:off x="7651333" y="3765133"/>
            <a:ext cx="351861" cy="351861"/>
          </a:xfrm>
          <a:prstGeom prst="rect">
            <a:avLst/>
          </a:prstGeom>
        </p:spPr>
      </p:pic>
      <p:sp>
        <p:nvSpPr>
          <p:cNvPr id="16" name="Text 11"/>
          <p:cNvSpPr txBox="1"/>
          <p:nvPr/>
        </p:nvSpPr>
        <p:spPr>
          <a:xfrm>
            <a:off x="8229600" y="3758184"/>
            <a:ext cx="3246120" cy="365760"/>
          </a:xfrm>
          <a:prstGeom prst="rect">
            <a:avLst/>
          </a:prstGeom>
          <a:noFill/>
          <a:ln/>
        </p:spPr>
        <p:txBody>
          <a:bodyPr wrap="square" rtlCol="0" anchor="ctr"/>
          <a:lstStyle/>
          <a:p>
            <a:pPr marL="0" indent="0">
              <a:buNone/>
            </a:pPr>
            <a:r>
              <a:rPr lang="en-US" sz="1400" dirty="0">
                <a:solidFill>
                  <a:srgbClr val="E6EDF3"/>
                </a:solidFill>
                <a:latin typeface="Calibri" pitchFamily="34" charset="0"/>
                <a:ea typeface="Calibri" pitchFamily="34" charset="-122"/>
                <a:cs typeface="Calibri" pitchFamily="34" charset="-120"/>
              </a:rPr>
              <a:t>Disk I/O &amp; Storage</a:t>
            </a:r>
            <a:endParaRPr lang="en-US" sz="1400" dirty="0"/>
          </a:p>
        </p:txBody>
      </p:sp>
      <p:sp>
        <p:nvSpPr>
          <p:cNvPr id="17" name="Shape 12"/>
          <p:cNvSpPr/>
          <p:nvPr/>
        </p:nvSpPr>
        <p:spPr>
          <a:xfrm>
            <a:off x="7589520" y="4526280"/>
            <a:ext cx="475488" cy="475488"/>
          </a:xfrm>
          <a:prstGeom prst="ellipse">
            <a:avLst/>
          </a:prstGeom>
          <a:solidFill>
            <a:srgbClr val="1C2128"/>
          </a:solidFill>
          <a:ln/>
        </p:spPr>
      </p:sp>
      <p:pic>
        <p:nvPicPr>
          <p:cNvPr id="18" name="Image 3" descr="/home/claude/pptx_proj/icon_network_3FB950.png"/>
          <p:cNvPicPr>
            <a:picLocks noChangeAspect="1"/>
          </p:cNvPicPr>
          <p:nvPr/>
        </p:nvPicPr>
        <p:blipFill>
          <a:blip r:embed="rId6"/>
          <a:stretch>
            <a:fillRect/>
          </a:stretch>
        </p:blipFill>
        <p:spPr>
          <a:xfrm>
            <a:off x="7651333" y="4588093"/>
            <a:ext cx="351861" cy="351861"/>
          </a:xfrm>
          <a:prstGeom prst="rect">
            <a:avLst/>
          </a:prstGeom>
        </p:spPr>
      </p:pic>
      <p:sp>
        <p:nvSpPr>
          <p:cNvPr id="19" name="Text 13"/>
          <p:cNvSpPr txBox="1"/>
          <p:nvPr/>
        </p:nvSpPr>
        <p:spPr>
          <a:xfrm>
            <a:off x="8229600" y="4581144"/>
            <a:ext cx="3246120" cy="365760"/>
          </a:xfrm>
          <a:prstGeom prst="rect">
            <a:avLst/>
          </a:prstGeom>
          <a:noFill/>
          <a:ln/>
        </p:spPr>
        <p:txBody>
          <a:bodyPr wrap="square" rtlCol="0" anchor="ctr"/>
          <a:lstStyle/>
          <a:p>
            <a:pPr marL="0" indent="0">
              <a:buNone/>
            </a:pPr>
            <a:r>
              <a:rPr lang="en-US" sz="1400" dirty="0">
                <a:solidFill>
                  <a:srgbClr val="E6EDF3"/>
                </a:solidFill>
                <a:latin typeface="Calibri" pitchFamily="34" charset="0"/>
                <a:ea typeface="Calibri" pitchFamily="34" charset="-122"/>
                <a:cs typeface="Calibri" pitchFamily="34" charset="-120"/>
              </a:rPr>
              <a:t>Network Activity</a:t>
            </a:r>
            <a:endParaRPr lang="en-US" sz="1400" dirty="0"/>
          </a:p>
        </p:txBody>
      </p:sp>
      <p:sp>
        <p:nvSpPr>
          <p:cNvPr id="20" name="Text 14"/>
          <p:cNvSpPr txBox="1"/>
          <p:nvPr/>
        </p:nvSpPr>
        <p:spPr>
          <a:xfrm>
            <a:off x="457200" y="6519672"/>
            <a:ext cx="5486400" cy="274320"/>
          </a:xfrm>
          <a:prstGeom prst="rect">
            <a:avLst/>
          </a:prstGeom>
          <a:noFill/>
          <a:ln/>
        </p:spPr>
        <p:txBody>
          <a:bodyPr wrap="square" rtlCol="0" anchor="ctr"/>
          <a:lstStyle/>
          <a:p>
            <a:pPr marL="0" indent="0">
              <a:buNone/>
            </a:pPr>
            <a:r>
              <a:rPr lang="en-US" sz="900" kern="0" spc="100" dirty="0">
                <a:solidFill>
                  <a:srgbClr val="8B949E"/>
                </a:solidFill>
                <a:latin typeface="Calibri" pitchFamily="34" charset="0"/>
                <a:ea typeface="Calibri" pitchFamily="34" charset="-122"/>
                <a:cs typeface="Calibri" pitchFamily="34" charset="-120"/>
              </a:rPr>
              <a:t>LINUX SYSTEM MONITORING TOOL</a:t>
            </a:r>
            <a:endParaRPr lang="en-US" sz="900" dirty="0"/>
          </a:p>
        </p:txBody>
      </p:sp>
      <p:sp>
        <p:nvSpPr>
          <p:cNvPr id="21" name="Text 15"/>
          <p:cNvSpPr txBox="1"/>
          <p:nvPr/>
        </p:nvSpPr>
        <p:spPr>
          <a:xfrm>
            <a:off x="11338560" y="6519672"/>
            <a:ext cx="365760" cy="274320"/>
          </a:xfrm>
          <a:prstGeom prst="rect">
            <a:avLst/>
          </a:prstGeom>
          <a:noFill/>
          <a:ln/>
        </p:spPr>
        <p:txBody>
          <a:bodyPr wrap="square" rtlCol="0" anchor="ctr"/>
          <a:lstStyle/>
          <a:p>
            <a:pPr marL="0" indent="0" algn="r">
              <a:buNone/>
            </a:pPr>
            <a:r>
              <a:rPr lang="en-US" sz="900" dirty="0">
                <a:solidFill>
                  <a:srgbClr val="8B949E"/>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5486400" cy="274320"/>
          </a:xfrm>
          <a:prstGeom prst="rect">
            <a:avLst/>
          </a:prstGeom>
          <a:noFill/>
          <a:ln/>
        </p:spPr>
        <p:txBody>
          <a:bodyPr wrap="square" rtlCol="0" anchor="ctr"/>
          <a:lstStyle/>
          <a:p>
            <a:pPr marL="0" indent="0">
              <a:buNone/>
            </a:pPr>
            <a:r>
              <a:rPr lang="en-US" sz="1100" b="1" kern="0" spc="200" dirty="0">
                <a:solidFill>
                  <a:srgbClr val="3FB950"/>
                </a:solidFill>
                <a:latin typeface="Calibri" pitchFamily="34" charset="0"/>
                <a:ea typeface="Calibri" pitchFamily="34" charset="-122"/>
                <a:cs typeface="Calibri" pitchFamily="34" charset="-120"/>
              </a:rPr>
              <a:t>PROJECT SCOPE</a:t>
            </a:r>
            <a:endParaRPr lang="en-US" sz="1100" dirty="0"/>
          </a:p>
        </p:txBody>
      </p:sp>
      <p:sp>
        <p:nvSpPr>
          <p:cNvPr id="3" name="Text 1"/>
          <p:cNvSpPr txBox="1"/>
          <p:nvPr/>
        </p:nvSpPr>
        <p:spPr>
          <a:xfrm>
            <a:off x="548640" y="566928"/>
            <a:ext cx="7315200" cy="640080"/>
          </a:xfrm>
          <a:prstGeom prst="rect">
            <a:avLst/>
          </a:prstGeom>
          <a:noFill/>
          <a:ln/>
        </p:spPr>
        <p:txBody>
          <a:bodyPr wrap="square" rtlCol="0" anchor="ctr"/>
          <a:lstStyle/>
          <a:p>
            <a:pPr marL="0" indent="0">
              <a:buNone/>
            </a:pPr>
            <a:r>
              <a:rPr lang="en-US" sz="3200" b="1" dirty="0">
                <a:solidFill>
                  <a:srgbClr val="E6EDF3"/>
                </a:solidFill>
                <a:latin typeface="Cambria" pitchFamily="34" charset="0"/>
                <a:ea typeface="Cambria" pitchFamily="34" charset="-122"/>
                <a:cs typeface="Cambria" pitchFamily="34" charset="-120"/>
              </a:rPr>
              <a:t>Objectives</a:t>
            </a:r>
            <a:endParaRPr lang="en-US" sz="3200" dirty="0"/>
          </a:p>
        </p:txBody>
      </p:sp>
      <p:sp>
        <p:nvSpPr>
          <p:cNvPr id="4" name="Shape 2"/>
          <p:cNvSpPr/>
          <p:nvPr/>
        </p:nvSpPr>
        <p:spPr>
          <a:xfrm>
            <a:off x="548640" y="1600200"/>
            <a:ext cx="5349240" cy="1554480"/>
          </a:xfrm>
          <a:prstGeom prst="roundRect">
            <a:avLst>
              <a:gd name="adj" fmla="val 5882"/>
            </a:avLst>
          </a:prstGeom>
          <a:solidFill>
            <a:srgbClr val="161B22"/>
          </a:solidFill>
          <a:ln/>
        </p:spPr>
      </p:sp>
      <p:sp>
        <p:nvSpPr>
          <p:cNvPr id="5" name="Shape 3"/>
          <p:cNvSpPr/>
          <p:nvPr/>
        </p:nvSpPr>
        <p:spPr>
          <a:xfrm>
            <a:off x="804672" y="1856232"/>
            <a:ext cx="566928" cy="566928"/>
          </a:xfrm>
          <a:prstGeom prst="ellipse">
            <a:avLst/>
          </a:prstGeom>
          <a:solidFill>
            <a:srgbClr val="1C2128"/>
          </a:solidFill>
          <a:ln/>
        </p:spPr>
      </p:sp>
      <p:pic>
        <p:nvPicPr>
          <p:cNvPr id="6" name="Image 0" descr="/home/claude/pptx_proj/icon_dashboard_3FB950.png"/>
          <p:cNvPicPr>
            <a:picLocks noChangeAspect="1"/>
          </p:cNvPicPr>
          <p:nvPr/>
        </p:nvPicPr>
        <p:blipFill>
          <a:blip r:embed="rId3"/>
          <a:stretch>
            <a:fillRect/>
          </a:stretch>
        </p:blipFill>
        <p:spPr>
          <a:xfrm>
            <a:off x="878373" y="1929933"/>
            <a:ext cx="419527" cy="419527"/>
          </a:xfrm>
          <a:prstGeom prst="rect">
            <a:avLst/>
          </a:prstGeom>
        </p:spPr>
      </p:pic>
      <p:sp>
        <p:nvSpPr>
          <p:cNvPr id="7" name="Text 4"/>
          <p:cNvSpPr txBox="1"/>
          <p:nvPr/>
        </p:nvSpPr>
        <p:spPr>
          <a:xfrm>
            <a:off x="1554480" y="1837944"/>
            <a:ext cx="4114800" cy="365760"/>
          </a:xfrm>
          <a:prstGeom prst="rect">
            <a:avLst/>
          </a:prstGeom>
          <a:noFill/>
          <a:ln/>
        </p:spPr>
        <p:txBody>
          <a:bodyPr wrap="square" rtlCol="0" anchor="ctr"/>
          <a:lstStyle/>
          <a:p>
            <a:pPr marL="0" indent="0">
              <a:buNone/>
            </a:pPr>
            <a:r>
              <a:rPr lang="en-US" sz="1550" b="1" dirty="0">
                <a:solidFill>
                  <a:srgbClr val="E6EDF3"/>
                </a:solidFill>
                <a:latin typeface="Calibri" pitchFamily="34" charset="0"/>
                <a:ea typeface="Calibri" pitchFamily="34" charset="-122"/>
                <a:cs typeface="Calibri" pitchFamily="34" charset="-120"/>
              </a:rPr>
              <a:t>Real-Time Monitoring</a:t>
            </a:r>
            <a:endParaRPr lang="en-US" sz="1550" dirty="0"/>
          </a:p>
        </p:txBody>
      </p:sp>
      <p:sp>
        <p:nvSpPr>
          <p:cNvPr id="8" name="Text 5"/>
          <p:cNvSpPr txBox="1"/>
          <p:nvPr/>
        </p:nvSpPr>
        <p:spPr>
          <a:xfrm>
            <a:off x="1554480" y="2221992"/>
            <a:ext cx="4114800" cy="822960"/>
          </a:xfrm>
          <a:prstGeom prst="rect">
            <a:avLst/>
          </a:prstGeom>
          <a:noFill/>
          <a:ln/>
        </p:spPr>
        <p:txBody>
          <a:bodyPr wrap="square" rtlCol="0" anchor="ctr"/>
          <a:lstStyle/>
          <a:p>
            <a:pPr marL="0" indent="0">
              <a:lnSpc>
                <a:spcPct val="120000"/>
              </a:lnSpc>
              <a:buNone/>
            </a:pPr>
            <a:r>
              <a:rPr lang="en-US" sz="1250" dirty="0">
                <a:solidFill>
                  <a:srgbClr val="8B949E"/>
                </a:solidFill>
                <a:latin typeface="Calibri" pitchFamily="34" charset="0"/>
                <a:ea typeface="Calibri" pitchFamily="34" charset="-122"/>
                <a:cs typeface="Calibri" pitchFamily="34" charset="-120"/>
              </a:rPr>
              <a:t>Continuously track CPU, RAM, disk, and network usage as the system runs.</a:t>
            </a:r>
            <a:endParaRPr lang="en-US" sz="1250" dirty="0"/>
          </a:p>
        </p:txBody>
      </p:sp>
      <p:sp>
        <p:nvSpPr>
          <p:cNvPr id="9" name="Shape 6"/>
          <p:cNvSpPr/>
          <p:nvPr/>
        </p:nvSpPr>
        <p:spPr>
          <a:xfrm>
            <a:off x="6217920" y="1600200"/>
            <a:ext cx="5349240" cy="1554480"/>
          </a:xfrm>
          <a:prstGeom prst="roundRect">
            <a:avLst>
              <a:gd name="adj" fmla="val 5882"/>
            </a:avLst>
          </a:prstGeom>
          <a:solidFill>
            <a:srgbClr val="161B22"/>
          </a:solidFill>
          <a:ln/>
        </p:spPr>
      </p:sp>
      <p:sp>
        <p:nvSpPr>
          <p:cNvPr id="10" name="Shape 7"/>
          <p:cNvSpPr/>
          <p:nvPr/>
        </p:nvSpPr>
        <p:spPr>
          <a:xfrm>
            <a:off x="6473952" y="1856232"/>
            <a:ext cx="566928" cy="566928"/>
          </a:xfrm>
          <a:prstGeom prst="ellipse">
            <a:avLst/>
          </a:prstGeom>
          <a:solidFill>
            <a:srgbClr val="1C2128"/>
          </a:solidFill>
          <a:ln/>
        </p:spPr>
      </p:sp>
      <p:pic>
        <p:nvPicPr>
          <p:cNvPr id="11" name="Image 1" descr="/home/claude/pptx_proj/icon_alert_3FB950.png"/>
          <p:cNvPicPr>
            <a:picLocks noChangeAspect="1"/>
          </p:cNvPicPr>
          <p:nvPr/>
        </p:nvPicPr>
        <p:blipFill>
          <a:blip r:embed="rId4"/>
          <a:stretch>
            <a:fillRect/>
          </a:stretch>
        </p:blipFill>
        <p:spPr>
          <a:xfrm>
            <a:off x="6547653" y="1929933"/>
            <a:ext cx="419527" cy="419527"/>
          </a:xfrm>
          <a:prstGeom prst="rect">
            <a:avLst/>
          </a:prstGeom>
        </p:spPr>
      </p:pic>
      <p:sp>
        <p:nvSpPr>
          <p:cNvPr id="12" name="Text 8"/>
          <p:cNvSpPr txBox="1"/>
          <p:nvPr/>
        </p:nvSpPr>
        <p:spPr>
          <a:xfrm>
            <a:off x="7223760" y="1837944"/>
            <a:ext cx="4114800" cy="365760"/>
          </a:xfrm>
          <a:prstGeom prst="rect">
            <a:avLst/>
          </a:prstGeom>
          <a:noFill/>
          <a:ln/>
        </p:spPr>
        <p:txBody>
          <a:bodyPr wrap="square" rtlCol="0" anchor="ctr"/>
          <a:lstStyle/>
          <a:p>
            <a:pPr marL="0" indent="0">
              <a:buNone/>
            </a:pPr>
            <a:r>
              <a:rPr lang="en-US" sz="1550" b="1" dirty="0">
                <a:solidFill>
                  <a:srgbClr val="E6EDF3"/>
                </a:solidFill>
                <a:latin typeface="Calibri" pitchFamily="34" charset="0"/>
                <a:ea typeface="Calibri" pitchFamily="34" charset="-122"/>
                <a:cs typeface="Calibri" pitchFamily="34" charset="-120"/>
              </a:rPr>
              <a:t>Anomaly Detection</a:t>
            </a:r>
            <a:endParaRPr lang="en-US" sz="1550" dirty="0"/>
          </a:p>
        </p:txBody>
      </p:sp>
      <p:sp>
        <p:nvSpPr>
          <p:cNvPr id="13" name="Text 9"/>
          <p:cNvSpPr txBox="1"/>
          <p:nvPr/>
        </p:nvSpPr>
        <p:spPr>
          <a:xfrm>
            <a:off x="7223760" y="2221992"/>
            <a:ext cx="4114800" cy="822960"/>
          </a:xfrm>
          <a:prstGeom prst="rect">
            <a:avLst/>
          </a:prstGeom>
          <a:noFill/>
          <a:ln/>
        </p:spPr>
        <p:txBody>
          <a:bodyPr wrap="square" rtlCol="0" anchor="ctr"/>
          <a:lstStyle/>
          <a:p>
            <a:pPr marL="0" indent="0">
              <a:lnSpc>
                <a:spcPct val="120000"/>
              </a:lnSpc>
              <a:buNone/>
            </a:pPr>
            <a:r>
              <a:rPr lang="en-US" sz="1250" dirty="0">
                <a:solidFill>
                  <a:srgbClr val="8B949E"/>
                </a:solidFill>
                <a:latin typeface="Calibri" pitchFamily="34" charset="0"/>
                <a:ea typeface="Calibri" pitchFamily="34" charset="-122"/>
                <a:cs typeface="Calibri" pitchFamily="34" charset="-120"/>
              </a:rPr>
              <a:t>Flag issues such as memory leaks or runaway processes before they escalate.</a:t>
            </a:r>
            <a:endParaRPr lang="en-US" sz="1250" dirty="0"/>
          </a:p>
        </p:txBody>
      </p:sp>
      <p:sp>
        <p:nvSpPr>
          <p:cNvPr id="14" name="Shape 10"/>
          <p:cNvSpPr/>
          <p:nvPr/>
        </p:nvSpPr>
        <p:spPr>
          <a:xfrm>
            <a:off x="548640" y="3429000"/>
            <a:ext cx="5349240" cy="1554480"/>
          </a:xfrm>
          <a:prstGeom prst="roundRect">
            <a:avLst>
              <a:gd name="adj" fmla="val 5882"/>
            </a:avLst>
          </a:prstGeom>
          <a:solidFill>
            <a:srgbClr val="161B22"/>
          </a:solidFill>
          <a:ln/>
        </p:spPr>
      </p:sp>
      <p:sp>
        <p:nvSpPr>
          <p:cNvPr id="15" name="Shape 11"/>
          <p:cNvSpPr/>
          <p:nvPr/>
        </p:nvSpPr>
        <p:spPr>
          <a:xfrm>
            <a:off x="804672" y="3685032"/>
            <a:ext cx="566928" cy="566928"/>
          </a:xfrm>
          <a:prstGeom prst="ellipse">
            <a:avLst/>
          </a:prstGeom>
          <a:solidFill>
            <a:srgbClr val="1C2128"/>
          </a:solidFill>
          <a:ln/>
        </p:spPr>
      </p:sp>
      <p:pic>
        <p:nvPicPr>
          <p:cNvPr id="16" name="Image 2" descr="/home/claude/pptx_proj/icon_terminal_3FB950.png"/>
          <p:cNvPicPr>
            <a:picLocks noChangeAspect="1"/>
          </p:cNvPicPr>
          <p:nvPr/>
        </p:nvPicPr>
        <p:blipFill>
          <a:blip r:embed="rId5"/>
          <a:stretch>
            <a:fillRect/>
          </a:stretch>
        </p:blipFill>
        <p:spPr>
          <a:xfrm>
            <a:off x="878373" y="3758733"/>
            <a:ext cx="419527" cy="419527"/>
          </a:xfrm>
          <a:prstGeom prst="rect">
            <a:avLst/>
          </a:prstGeom>
        </p:spPr>
      </p:pic>
      <p:sp>
        <p:nvSpPr>
          <p:cNvPr id="17" name="Text 12"/>
          <p:cNvSpPr txBox="1"/>
          <p:nvPr/>
        </p:nvSpPr>
        <p:spPr>
          <a:xfrm>
            <a:off x="1554480" y="3666744"/>
            <a:ext cx="4114800" cy="365760"/>
          </a:xfrm>
          <a:prstGeom prst="rect">
            <a:avLst/>
          </a:prstGeom>
          <a:noFill/>
          <a:ln/>
        </p:spPr>
        <p:txBody>
          <a:bodyPr wrap="square" rtlCol="0" anchor="ctr"/>
          <a:lstStyle/>
          <a:p>
            <a:pPr marL="0" indent="0">
              <a:buNone/>
            </a:pPr>
            <a:r>
              <a:rPr lang="en-US" sz="1550" b="1" dirty="0">
                <a:solidFill>
                  <a:srgbClr val="E6EDF3"/>
                </a:solidFill>
                <a:latin typeface="Calibri" pitchFamily="34" charset="0"/>
                <a:ea typeface="Calibri" pitchFamily="34" charset="-122"/>
                <a:cs typeface="Calibri" pitchFamily="34" charset="-120"/>
              </a:rPr>
              <a:t>Readable Interface</a:t>
            </a:r>
            <a:endParaRPr lang="en-US" sz="1550" dirty="0"/>
          </a:p>
        </p:txBody>
      </p:sp>
      <p:sp>
        <p:nvSpPr>
          <p:cNvPr id="18" name="Text 13"/>
          <p:cNvSpPr txBox="1"/>
          <p:nvPr/>
        </p:nvSpPr>
        <p:spPr>
          <a:xfrm>
            <a:off x="1554480" y="4050792"/>
            <a:ext cx="4114800" cy="822960"/>
          </a:xfrm>
          <a:prstGeom prst="rect">
            <a:avLst/>
          </a:prstGeom>
          <a:noFill/>
          <a:ln/>
        </p:spPr>
        <p:txBody>
          <a:bodyPr wrap="square" rtlCol="0" anchor="ctr"/>
          <a:lstStyle/>
          <a:p>
            <a:pPr marL="0" indent="0">
              <a:lnSpc>
                <a:spcPct val="120000"/>
              </a:lnSpc>
              <a:buNone/>
            </a:pPr>
            <a:r>
              <a:rPr lang="en-US" sz="1250" dirty="0">
                <a:solidFill>
                  <a:srgbClr val="8B949E"/>
                </a:solidFill>
                <a:latin typeface="Calibri" pitchFamily="34" charset="0"/>
                <a:ea typeface="Calibri" pitchFamily="34" charset="-122"/>
                <a:cs typeface="Calibri" pitchFamily="34" charset="-120"/>
              </a:rPr>
              <a:t>Present metrics through a clear CLI or lightweight dashboard view.</a:t>
            </a:r>
            <a:endParaRPr lang="en-US" sz="1250" dirty="0"/>
          </a:p>
        </p:txBody>
      </p:sp>
      <p:sp>
        <p:nvSpPr>
          <p:cNvPr id="19" name="Shape 14"/>
          <p:cNvSpPr/>
          <p:nvPr/>
        </p:nvSpPr>
        <p:spPr>
          <a:xfrm>
            <a:off x="6217920" y="3429000"/>
            <a:ext cx="5349240" cy="1554480"/>
          </a:xfrm>
          <a:prstGeom prst="roundRect">
            <a:avLst>
              <a:gd name="adj" fmla="val 5882"/>
            </a:avLst>
          </a:prstGeom>
          <a:solidFill>
            <a:srgbClr val="161B22"/>
          </a:solidFill>
          <a:ln/>
        </p:spPr>
      </p:sp>
      <p:sp>
        <p:nvSpPr>
          <p:cNvPr id="20" name="Shape 15"/>
          <p:cNvSpPr/>
          <p:nvPr/>
        </p:nvSpPr>
        <p:spPr>
          <a:xfrm>
            <a:off x="6473952" y="3685032"/>
            <a:ext cx="566928" cy="566928"/>
          </a:xfrm>
          <a:prstGeom prst="ellipse">
            <a:avLst/>
          </a:prstGeom>
          <a:solidFill>
            <a:srgbClr val="1C2128"/>
          </a:solidFill>
          <a:ln/>
        </p:spPr>
      </p:sp>
      <p:pic>
        <p:nvPicPr>
          <p:cNvPr id="21" name="Image 3" descr="/home/claude/pptx_proj/icon_chart_3FB950.png"/>
          <p:cNvPicPr>
            <a:picLocks noChangeAspect="1"/>
          </p:cNvPicPr>
          <p:nvPr/>
        </p:nvPicPr>
        <p:blipFill>
          <a:blip r:embed="rId6"/>
          <a:stretch>
            <a:fillRect/>
          </a:stretch>
        </p:blipFill>
        <p:spPr>
          <a:xfrm>
            <a:off x="6547653" y="3758733"/>
            <a:ext cx="419527" cy="419527"/>
          </a:xfrm>
          <a:prstGeom prst="rect">
            <a:avLst/>
          </a:prstGeom>
        </p:spPr>
      </p:pic>
      <p:sp>
        <p:nvSpPr>
          <p:cNvPr id="22" name="Text 16"/>
          <p:cNvSpPr txBox="1"/>
          <p:nvPr/>
        </p:nvSpPr>
        <p:spPr>
          <a:xfrm>
            <a:off x="7223760" y="3666744"/>
            <a:ext cx="4114800" cy="365760"/>
          </a:xfrm>
          <a:prstGeom prst="rect">
            <a:avLst/>
          </a:prstGeom>
          <a:noFill/>
          <a:ln/>
        </p:spPr>
        <p:txBody>
          <a:bodyPr wrap="square" rtlCol="0" anchor="ctr"/>
          <a:lstStyle/>
          <a:p>
            <a:pPr marL="0" indent="0">
              <a:buNone/>
            </a:pPr>
            <a:r>
              <a:rPr lang="en-US" sz="1550" b="1" dirty="0">
                <a:solidFill>
                  <a:srgbClr val="E6EDF3"/>
                </a:solidFill>
                <a:latin typeface="Calibri" pitchFamily="34" charset="0"/>
                <a:ea typeface="Calibri" pitchFamily="34" charset="-122"/>
                <a:cs typeface="Calibri" pitchFamily="34" charset="-120"/>
              </a:rPr>
              <a:t>Proactive Optimization</a:t>
            </a:r>
            <a:endParaRPr lang="en-US" sz="1550" dirty="0"/>
          </a:p>
        </p:txBody>
      </p:sp>
      <p:sp>
        <p:nvSpPr>
          <p:cNvPr id="23" name="Text 17"/>
          <p:cNvSpPr txBox="1"/>
          <p:nvPr/>
        </p:nvSpPr>
        <p:spPr>
          <a:xfrm>
            <a:off x="7223760" y="4050792"/>
            <a:ext cx="4114800" cy="822960"/>
          </a:xfrm>
          <a:prstGeom prst="rect">
            <a:avLst/>
          </a:prstGeom>
          <a:noFill/>
          <a:ln/>
        </p:spPr>
        <p:txBody>
          <a:bodyPr wrap="square" rtlCol="0" anchor="ctr"/>
          <a:lstStyle/>
          <a:p>
            <a:pPr marL="0" indent="0">
              <a:lnSpc>
                <a:spcPct val="120000"/>
              </a:lnSpc>
              <a:buNone/>
            </a:pPr>
            <a:r>
              <a:rPr lang="en-US" sz="1250" dirty="0">
                <a:solidFill>
                  <a:srgbClr val="8B949E"/>
                </a:solidFill>
                <a:latin typeface="Calibri" pitchFamily="34" charset="0"/>
                <a:ea typeface="Calibri" pitchFamily="34" charset="-122"/>
                <a:cs typeface="Calibri" pitchFamily="34" charset="-120"/>
              </a:rPr>
              <a:t>Support informed decisions on tuning and capacity planning.</a:t>
            </a:r>
            <a:endParaRPr lang="en-US" sz="1250" dirty="0"/>
          </a:p>
        </p:txBody>
      </p:sp>
      <p:sp>
        <p:nvSpPr>
          <p:cNvPr id="24" name="Text 18"/>
          <p:cNvSpPr txBox="1"/>
          <p:nvPr/>
        </p:nvSpPr>
        <p:spPr>
          <a:xfrm>
            <a:off x="457200" y="6519672"/>
            <a:ext cx="5486400" cy="274320"/>
          </a:xfrm>
          <a:prstGeom prst="rect">
            <a:avLst/>
          </a:prstGeom>
          <a:noFill/>
          <a:ln/>
        </p:spPr>
        <p:txBody>
          <a:bodyPr wrap="square" rtlCol="0" anchor="ctr"/>
          <a:lstStyle/>
          <a:p>
            <a:pPr marL="0" indent="0">
              <a:buNone/>
            </a:pPr>
            <a:r>
              <a:rPr lang="en-US" sz="900" kern="0" spc="100" dirty="0">
                <a:solidFill>
                  <a:srgbClr val="8B949E"/>
                </a:solidFill>
                <a:latin typeface="Calibri" pitchFamily="34" charset="0"/>
                <a:ea typeface="Calibri" pitchFamily="34" charset="-122"/>
                <a:cs typeface="Calibri" pitchFamily="34" charset="-120"/>
              </a:rPr>
              <a:t>LINUX SYSTEM MONITORING TOOL</a:t>
            </a:r>
            <a:endParaRPr lang="en-US" sz="900" dirty="0"/>
          </a:p>
        </p:txBody>
      </p:sp>
      <p:sp>
        <p:nvSpPr>
          <p:cNvPr id="25" name="Text 19"/>
          <p:cNvSpPr txBox="1"/>
          <p:nvPr/>
        </p:nvSpPr>
        <p:spPr>
          <a:xfrm>
            <a:off x="11338560" y="6519672"/>
            <a:ext cx="365760" cy="274320"/>
          </a:xfrm>
          <a:prstGeom prst="rect">
            <a:avLst/>
          </a:prstGeom>
          <a:noFill/>
          <a:ln/>
        </p:spPr>
        <p:txBody>
          <a:bodyPr wrap="square" rtlCol="0" anchor="ctr"/>
          <a:lstStyle/>
          <a:p>
            <a:pPr marL="0" indent="0" algn="r">
              <a:buNone/>
            </a:pPr>
            <a:r>
              <a:rPr lang="en-US" sz="900" dirty="0">
                <a:solidFill>
                  <a:srgbClr val="8B949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5486400" cy="274320"/>
          </a:xfrm>
          <a:prstGeom prst="rect">
            <a:avLst/>
          </a:prstGeom>
          <a:noFill/>
          <a:ln/>
        </p:spPr>
        <p:txBody>
          <a:bodyPr wrap="square" rtlCol="0" anchor="ctr"/>
          <a:lstStyle/>
          <a:p>
            <a:pPr marL="0" indent="0">
              <a:buNone/>
            </a:pPr>
            <a:r>
              <a:rPr lang="en-US" sz="1100" b="1" kern="0" spc="200" dirty="0">
                <a:solidFill>
                  <a:srgbClr val="3FB950"/>
                </a:solidFill>
                <a:latin typeface="Calibri" pitchFamily="34" charset="0"/>
                <a:ea typeface="Calibri" pitchFamily="34" charset="-122"/>
                <a:cs typeface="Calibri" pitchFamily="34" charset="-120"/>
              </a:rPr>
              <a:t>HOW IT WORKS</a:t>
            </a:r>
            <a:endParaRPr lang="en-US" sz="1100" dirty="0"/>
          </a:p>
        </p:txBody>
      </p:sp>
      <p:sp>
        <p:nvSpPr>
          <p:cNvPr id="3" name="Text 1"/>
          <p:cNvSpPr txBox="1"/>
          <p:nvPr/>
        </p:nvSpPr>
        <p:spPr>
          <a:xfrm>
            <a:off x="548640" y="566928"/>
            <a:ext cx="9144000" cy="640080"/>
          </a:xfrm>
          <a:prstGeom prst="rect">
            <a:avLst/>
          </a:prstGeom>
          <a:noFill/>
          <a:ln/>
        </p:spPr>
        <p:txBody>
          <a:bodyPr wrap="square" rtlCol="0" anchor="ctr"/>
          <a:lstStyle/>
          <a:p>
            <a:pPr marL="0" indent="0">
              <a:buNone/>
            </a:pPr>
            <a:r>
              <a:rPr lang="en-US" sz="3000" b="1" dirty="0">
                <a:solidFill>
                  <a:srgbClr val="E6EDF3"/>
                </a:solidFill>
                <a:latin typeface="Cambria" pitchFamily="34" charset="0"/>
                <a:ea typeface="Cambria" pitchFamily="34" charset="-122"/>
                <a:cs typeface="Cambria" pitchFamily="34" charset="-120"/>
              </a:rPr>
              <a:t>System Design &amp; Architecture</a:t>
            </a:r>
            <a:endParaRPr lang="en-US" sz="3000" dirty="0"/>
          </a:p>
        </p:txBody>
      </p:sp>
      <p:sp>
        <p:nvSpPr>
          <p:cNvPr id="4" name="Text 2"/>
          <p:cNvSpPr txBox="1"/>
          <p:nvPr/>
        </p:nvSpPr>
        <p:spPr>
          <a:xfrm>
            <a:off x="548640" y="1371600"/>
            <a:ext cx="10332720" cy="502920"/>
          </a:xfrm>
          <a:prstGeom prst="rect">
            <a:avLst/>
          </a:prstGeom>
          <a:noFill/>
          <a:ln/>
        </p:spPr>
        <p:txBody>
          <a:bodyPr wrap="square" rtlCol="0" anchor="ctr"/>
          <a:lstStyle/>
          <a:p>
            <a:pPr marL="0" indent="0">
              <a:buNone/>
            </a:pPr>
            <a:r>
              <a:rPr lang="en-US" sz="1350" dirty="0">
                <a:solidFill>
                  <a:srgbClr val="8B949E"/>
                </a:solidFill>
                <a:latin typeface="Calibri" pitchFamily="34" charset="0"/>
                <a:ea typeface="Calibri" pitchFamily="34" charset="-122"/>
                <a:cs typeface="Calibri" pitchFamily="34" charset="-120"/>
              </a:rPr>
              <a:t>Metrics are read directly from the Linux kernel's /proc and /sys filesystems and standard system calls, then processed and rendered to the user.</a:t>
            </a:r>
            <a:endParaRPr lang="en-US" sz="1350" dirty="0"/>
          </a:p>
        </p:txBody>
      </p:sp>
      <p:sp>
        <p:nvSpPr>
          <p:cNvPr id="5" name="Shape 3"/>
          <p:cNvSpPr/>
          <p:nvPr/>
        </p:nvSpPr>
        <p:spPr>
          <a:xfrm>
            <a:off x="516636" y="2331720"/>
            <a:ext cx="3200400" cy="2743200"/>
          </a:xfrm>
          <a:prstGeom prst="roundRect">
            <a:avLst>
              <a:gd name="adj" fmla="val 4000"/>
            </a:avLst>
          </a:prstGeom>
          <a:solidFill>
            <a:srgbClr val="161B22"/>
          </a:solidFill>
          <a:ln w="12700">
            <a:solidFill>
              <a:srgbClr val="2EA043"/>
            </a:solidFill>
            <a:prstDash val="solid"/>
          </a:ln>
        </p:spPr>
      </p:sp>
      <p:sp>
        <p:nvSpPr>
          <p:cNvPr id="6" name="Shape 4"/>
          <p:cNvSpPr/>
          <p:nvPr/>
        </p:nvSpPr>
        <p:spPr>
          <a:xfrm>
            <a:off x="1728216" y="2651760"/>
            <a:ext cx="777240" cy="777240"/>
          </a:xfrm>
          <a:prstGeom prst="ellipse">
            <a:avLst/>
          </a:prstGeom>
          <a:solidFill>
            <a:srgbClr val="1C2128"/>
          </a:solidFill>
          <a:ln/>
        </p:spPr>
      </p:sp>
      <p:pic>
        <p:nvPicPr>
          <p:cNvPr id="7" name="Image 0" descr="/home/claude/pptx_proj/icon_layers_3FB950.png"/>
          <p:cNvPicPr>
            <a:picLocks noChangeAspect="1"/>
          </p:cNvPicPr>
          <p:nvPr/>
        </p:nvPicPr>
        <p:blipFill>
          <a:blip r:embed="rId3"/>
          <a:stretch>
            <a:fillRect/>
          </a:stretch>
        </p:blipFill>
        <p:spPr>
          <a:xfrm>
            <a:off x="1829257" y="2752801"/>
            <a:ext cx="575158" cy="575158"/>
          </a:xfrm>
          <a:prstGeom prst="rect">
            <a:avLst/>
          </a:prstGeom>
        </p:spPr>
      </p:pic>
      <p:sp>
        <p:nvSpPr>
          <p:cNvPr id="8" name="Text 5"/>
          <p:cNvSpPr txBox="1"/>
          <p:nvPr/>
        </p:nvSpPr>
        <p:spPr>
          <a:xfrm>
            <a:off x="699516" y="3611880"/>
            <a:ext cx="2834640" cy="365760"/>
          </a:xfrm>
          <a:prstGeom prst="rect">
            <a:avLst/>
          </a:prstGeom>
          <a:noFill/>
          <a:ln/>
        </p:spPr>
        <p:txBody>
          <a:bodyPr wrap="square" rtlCol="0" anchor="ctr"/>
          <a:lstStyle/>
          <a:p>
            <a:pPr marL="0" indent="0" algn="ctr">
              <a:buNone/>
            </a:pPr>
            <a:r>
              <a:rPr lang="en-US" sz="1600" b="1" dirty="0">
                <a:solidFill>
                  <a:srgbClr val="E6EDF3"/>
                </a:solidFill>
                <a:latin typeface="Calibri" pitchFamily="34" charset="0"/>
                <a:ea typeface="Calibri" pitchFamily="34" charset="-122"/>
                <a:cs typeface="Calibri" pitchFamily="34" charset="-120"/>
              </a:rPr>
              <a:t>Data Collection</a:t>
            </a:r>
            <a:endParaRPr lang="en-US" sz="1600" dirty="0"/>
          </a:p>
        </p:txBody>
      </p:sp>
      <p:sp>
        <p:nvSpPr>
          <p:cNvPr id="9" name="Text 6"/>
          <p:cNvSpPr txBox="1"/>
          <p:nvPr/>
        </p:nvSpPr>
        <p:spPr>
          <a:xfrm>
            <a:off x="790956" y="4023360"/>
            <a:ext cx="2651760" cy="914400"/>
          </a:xfrm>
          <a:prstGeom prst="rect">
            <a:avLst/>
          </a:prstGeom>
          <a:noFill/>
          <a:ln/>
        </p:spPr>
        <p:txBody>
          <a:bodyPr wrap="square" rtlCol="0" anchor="ctr"/>
          <a:lstStyle/>
          <a:p>
            <a:pPr marL="0" indent="0" algn="ctr">
              <a:lnSpc>
                <a:spcPct val="120000"/>
              </a:lnSpc>
              <a:buNone/>
            </a:pPr>
            <a:r>
              <a:rPr lang="en-US" sz="1150" dirty="0">
                <a:solidFill>
                  <a:srgbClr val="8B949E"/>
                </a:solidFill>
                <a:latin typeface="Calibri" pitchFamily="34" charset="0"/>
                <a:ea typeface="Calibri" pitchFamily="34" charset="-122"/>
                <a:cs typeface="Calibri" pitchFamily="34" charset="-120"/>
              </a:rPr>
              <a:t>Read /proc, /sys, and system calls for CPU, memory, disk, and network stats.</a:t>
            </a:r>
            <a:endParaRPr lang="en-US" sz="1150" dirty="0"/>
          </a:p>
        </p:txBody>
      </p:sp>
      <p:sp>
        <p:nvSpPr>
          <p:cNvPr id="10" name="Text 7"/>
          <p:cNvSpPr txBox="1"/>
          <p:nvPr/>
        </p:nvSpPr>
        <p:spPr>
          <a:xfrm>
            <a:off x="3717036" y="3383280"/>
            <a:ext cx="777240" cy="640080"/>
          </a:xfrm>
          <a:prstGeom prst="rect">
            <a:avLst/>
          </a:prstGeom>
          <a:noFill/>
          <a:ln/>
        </p:spPr>
        <p:txBody>
          <a:bodyPr wrap="square" rtlCol="0" anchor="ctr"/>
          <a:lstStyle/>
          <a:p>
            <a:pPr marL="0" indent="0" algn="ctr">
              <a:buNone/>
            </a:pPr>
            <a:r>
              <a:rPr lang="en-US" sz="3000" b="1" dirty="0">
                <a:solidFill>
                  <a:srgbClr val="3FB950"/>
                </a:solidFill>
                <a:latin typeface="Arial" pitchFamily="34" charset="0"/>
                <a:ea typeface="Arial" pitchFamily="34" charset="-122"/>
                <a:cs typeface="Arial" pitchFamily="34" charset="-120"/>
              </a:rPr>
              <a:t>→</a:t>
            </a:r>
            <a:endParaRPr lang="en-US" sz="3000" dirty="0"/>
          </a:p>
        </p:txBody>
      </p:sp>
      <p:sp>
        <p:nvSpPr>
          <p:cNvPr id="11" name="Shape 8"/>
          <p:cNvSpPr/>
          <p:nvPr/>
        </p:nvSpPr>
        <p:spPr>
          <a:xfrm>
            <a:off x="4494276" y="2331720"/>
            <a:ext cx="3200400" cy="2743200"/>
          </a:xfrm>
          <a:prstGeom prst="roundRect">
            <a:avLst>
              <a:gd name="adj" fmla="val 4000"/>
            </a:avLst>
          </a:prstGeom>
          <a:solidFill>
            <a:srgbClr val="161B22"/>
          </a:solidFill>
          <a:ln w="12700">
            <a:solidFill>
              <a:srgbClr val="2EA043"/>
            </a:solidFill>
            <a:prstDash val="solid"/>
          </a:ln>
        </p:spPr>
      </p:sp>
      <p:sp>
        <p:nvSpPr>
          <p:cNvPr id="12" name="Shape 9"/>
          <p:cNvSpPr/>
          <p:nvPr/>
        </p:nvSpPr>
        <p:spPr>
          <a:xfrm>
            <a:off x="5705856" y="2651760"/>
            <a:ext cx="777240" cy="777240"/>
          </a:xfrm>
          <a:prstGeom prst="ellipse">
            <a:avLst/>
          </a:prstGeom>
          <a:solidFill>
            <a:srgbClr val="1C2128"/>
          </a:solidFill>
          <a:ln/>
        </p:spPr>
      </p:sp>
      <p:pic>
        <p:nvPicPr>
          <p:cNvPr id="13" name="Image 1" descr="/home/claude/pptx_proj/icon_cogs_3FB950.png"/>
          <p:cNvPicPr>
            <a:picLocks noChangeAspect="1"/>
          </p:cNvPicPr>
          <p:nvPr/>
        </p:nvPicPr>
        <p:blipFill>
          <a:blip r:embed="rId4"/>
          <a:stretch>
            <a:fillRect/>
          </a:stretch>
        </p:blipFill>
        <p:spPr>
          <a:xfrm>
            <a:off x="5806897" y="2752801"/>
            <a:ext cx="575158" cy="575158"/>
          </a:xfrm>
          <a:prstGeom prst="rect">
            <a:avLst/>
          </a:prstGeom>
        </p:spPr>
      </p:pic>
      <p:sp>
        <p:nvSpPr>
          <p:cNvPr id="14" name="Text 10"/>
          <p:cNvSpPr txBox="1"/>
          <p:nvPr/>
        </p:nvSpPr>
        <p:spPr>
          <a:xfrm>
            <a:off x="4677156" y="3611880"/>
            <a:ext cx="2834640" cy="365760"/>
          </a:xfrm>
          <a:prstGeom prst="rect">
            <a:avLst/>
          </a:prstGeom>
          <a:noFill/>
          <a:ln/>
        </p:spPr>
        <p:txBody>
          <a:bodyPr wrap="square" rtlCol="0" anchor="ctr"/>
          <a:lstStyle/>
          <a:p>
            <a:pPr marL="0" indent="0" algn="ctr">
              <a:buNone/>
            </a:pPr>
            <a:r>
              <a:rPr lang="en-US" sz="1600" b="1" dirty="0">
                <a:solidFill>
                  <a:srgbClr val="E6EDF3"/>
                </a:solidFill>
                <a:latin typeface="Calibri" pitchFamily="34" charset="0"/>
                <a:ea typeface="Calibri" pitchFamily="34" charset="-122"/>
                <a:cs typeface="Calibri" pitchFamily="34" charset="-120"/>
              </a:rPr>
              <a:t>Processing</a:t>
            </a:r>
            <a:endParaRPr lang="en-US" sz="1600" dirty="0"/>
          </a:p>
        </p:txBody>
      </p:sp>
      <p:sp>
        <p:nvSpPr>
          <p:cNvPr id="15" name="Text 11"/>
          <p:cNvSpPr txBox="1"/>
          <p:nvPr/>
        </p:nvSpPr>
        <p:spPr>
          <a:xfrm>
            <a:off x="4768596" y="4023360"/>
            <a:ext cx="2651760" cy="914400"/>
          </a:xfrm>
          <a:prstGeom prst="rect">
            <a:avLst/>
          </a:prstGeom>
          <a:noFill/>
          <a:ln/>
        </p:spPr>
        <p:txBody>
          <a:bodyPr wrap="square" rtlCol="0" anchor="ctr"/>
          <a:lstStyle/>
          <a:p>
            <a:pPr marL="0" indent="0" algn="ctr">
              <a:lnSpc>
                <a:spcPct val="120000"/>
              </a:lnSpc>
              <a:buNone/>
            </a:pPr>
            <a:r>
              <a:rPr lang="en-US" sz="1150" dirty="0">
                <a:solidFill>
                  <a:srgbClr val="8B949E"/>
                </a:solidFill>
                <a:latin typeface="Calibri" pitchFamily="34" charset="0"/>
                <a:ea typeface="Calibri" pitchFamily="34" charset="-122"/>
                <a:cs typeface="Calibri" pitchFamily="34" charset="-120"/>
              </a:rPr>
              <a:t>Parse raw values, compute rates/averages, and structure data for display.</a:t>
            </a:r>
            <a:endParaRPr lang="en-US" sz="1150" dirty="0"/>
          </a:p>
        </p:txBody>
      </p:sp>
      <p:sp>
        <p:nvSpPr>
          <p:cNvPr id="16" name="Text 12"/>
          <p:cNvSpPr txBox="1"/>
          <p:nvPr/>
        </p:nvSpPr>
        <p:spPr>
          <a:xfrm>
            <a:off x="7694676" y="3383280"/>
            <a:ext cx="777240" cy="640080"/>
          </a:xfrm>
          <a:prstGeom prst="rect">
            <a:avLst/>
          </a:prstGeom>
          <a:noFill/>
          <a:ln/>
        </p:spPr>
        <p:txBody>
          <a:bodyPr wrap="square" rtlCol="0" anchor="ctr"/>
          <a:lstStyle/>
          <a:p>
            <a:pPr marL="0" indent="0" algn="ctr">
              <a:buNone/>
            </a:pPr>
            <a:r>
              <a:rPr lang="en-US" sz="3000" b="1" dirty="0">
                <a:solidFill>
                  <a:srgbClr val="3FB950"/>
                </a:solidFill>
                <a:latin typeface="Arial" pitchFamily="34" charset="0"/>
                <a:ea typeface="Arial" pitchFamily="34" charset="-122"/>
                <a:cs typeface="Arial" pitchFamily="34" charset="-120"/>
              </a:rPr>
              <a:t>→</a:t>
            </a:r>
            <a:endParaRPr lang="en-US" sz="3000" dirty="0"/>
          </a:p>
        </p:txBody>
      </p:sp>
      <p:sp>
        <p:nvSpPr>
          <p:cNvPr id="17" name="Shape 13"/>
          <p:cNvSpPr/>
          <p:nvPr/>
        </p:nvSpPr>
        <p:spPr>
          <a:xfrm>
            <a:off x="8471916" y="2331720"/>
            <a:ext cx="3200400" cy="2743200"/>
          </a:xfrm>
          <a:prstGeom prst="roundRect">
            <a:avLst>
              <a:gd name="adj" fmla="val 4000"/>
            </a:avLst>
          </a:prstGeom>
          <a:solidFill>
            <a:srgbClr val="161B22"/>
          </a:solidFill>
          <a:ln w="12700">
            <a:solidFill>
              <a:srgbClr val="2EA043"/>
            </a:solidFill>
            <a:prstDash val="solid"/>
          </a:ln>
        </p:spPr>
      </p:sp>
      <p:sp>
        <p:nvSpPr>
          <p:cNvPr id="18" name="Shape 14"/>
          <p:cNvSpPr/>
          <p:nvPr/>
        </p:nvSpPr>
        <p:spPr>
          <a:xfrm>
            <a:off x="9683496" y="2651760"/>
            <a:ext cx="777240" cy="777240"/>
          </a:xfrm>
          <a:prstGeom prst="ellipse">
            <a:avLst/>
          </a:prstGeom>
          <a:solidFill>
            <a:srgbClr val="1C2128"/>
          </a:solidFill>
          <a:ln/>
        </p:spPr>
      </p:sp>
      <p:pic>
        <p:nvPicPr>
          <p:cNvPr id="19" name="Image 2" descr="/home/claude/pptx_proj/icon_dashboard_3FB950.png"/>
          <p:cNvPicPr>
            <a:picLocks noChangeAspect="1"/>
          </p:cNvPicPr>
          <p:nvPr/>
        </p:nvPicPr>
        <p:blipFill>
          <a:blip r:embed="rId5"/>
          <a:stretch>
            <a:fillRect/>
          </a:stretch>
        </p:blipFill>
        <p:spPr>
          <a:xfrm>
            <a:off x="9784537" y="2752801"/>
            <a:ext cx="575158" cy="575158"/>
          </a:xfrm>
          <a:prstGeom prst="rect">
            <a:avLst/>
          </a:prstGeom>
        </p:spPr>
      </p:pic>
      <p:sp>
        <p:nvSpPr>
          <p:cNvPr id="20" name="Text 15"/>
          <p:cNvSpPr txBox="1"/>
          <p:nvPr/>
        </p:nvSpPr>
        <p:spPr>
          <a:xfrm>
            <a:off x="8654796" y="3611880"/>
            <a:ext cx="2834640" cy="365760"/>
          </a:xfrm>
          <a:prstGeom prst="rect">
            <a:avLst/>
          </a:prstGeom>
          <a:noFill/>
          <a:ln/>
        </p:spPr>
        <p:txBody>
          <a:bodyPr wrap="square" rtlCol="0" anchor="ctr"/>
          <a:lstStyle/>
          <a:p>
            <a:pPr marL="0" indent="0" algn="ctr">
              <a:buNone/>
            </a:pPr>
            <a:r>
              <a:rPr lang="en-US" sz="1600" b="1" dirty="0">
                <a:solidFill>
                  <a:srgbClr val="E6EDF3"/>
                </a:solidFill>
                <a:latin typeface="Calibri" pitchFamily="34" charset="0"/>
                <a:ea typeface="Calibri" pitchFamily="34" charset="-122"/>
                <a:cs typeface="Calibri" pitchFamily="34" charset="-120"/>
              </a:rPr>
              <a:t>Display</a:t>
            </a:r>
            <a:endParaRPr lang="en-US" sz="1600" dirty="0"/>
          </a:p>
        </p:txBody>
      </p:sp>
      <p:sp>
        <p:nvSpPr>
          <p:cNvPr id="21" name="Text 16"/>
          <p:cNvSpPr txBox="1"/>
          <p:nvPr/>
        </p:nvSpPr>
        <p:spPr>
          <a:xfrm>
            <a:off x="8746236" y="4023360"/>
            <a:ext cx="2651760" cy="914400"/>
          </a:xfrm>
          <a:prstGeom prst="rect">
            <a:avLst/>
          </a:prstGeom>
          <a:noFill/>
          <a:ln/>
        </p:spPr>
        <p:txBody>
          <a:bodyPr wrap="square" rtlCol="0" anchor="ctr"/>
          <a:lstStyle/>
          <a:p>
            <a:pPr marL="0" indent="0" algn="ctr">
              <a:lnSpc>
                <a:spcPct val="120000"/>
              </a:lnSpc>
              <a:buNone/>
            </a:pPr>
            <a:r>
              <a:rPr lang="en-US" sz="1150" dirty="0">
                <a:solidFill>
                  <a:srgbClr val="8B949E"/>
                </a:solidFill>
                <a:latin typeface="Calibri" pitchFamily="34" charset="0"/>
                <a:ea typeface="Calibri" pitchFamily="34" charset="-122"/>
                <a:cs typeface="Calibri" pitchFamily="34" charset="-120"/>
              </a:rPr>
              <a:t>Render human-readable output via CLI or a live terminal dashboard.</a:t>
            </a:r>
            <a:endParaRPr lang="en-US" sz="1150" dirty="0"/>
          </a:p>
        </p:txBody>
      </p:sp>
      <p:sp>
        <p:nvSpPr>
          <p:cNvPr id="22" name="Text 17"/>
          <p:cNvSpPr txBox="1"/>
          <p:nvPr/>
        </p:nvSpPr>
        <p:spPr>
          <a:xfrm>
            <a:off x="457200" y="6519672"/>
            <a:ext cx="5486400" cy="274320"/>
          </a:xfrm>
          <a:prstGeom prst="rect">
            <a:avLst/>
          </a:prstGeom>
          <a:noFill/>
          <a:ln/>
        </p:spPr>
        <p:txBody>
          <a:bodyPr wrap="square" rtlCol="0" anchor="ctr"/>
          <a:lstStyle/>
          <a:p>
            <a:pPr marL="0" indent="0">
              <a:buNone/>
            </a:pPr>
            <a:r>
              <a:rPr lang="en-US" sz="900" kern="0" spc="100" dirty="0">
                <a:solidFill>
                  <a:srgbClr val="8B949E"/>
                </a:solidFill>
                <a:latin typeface="Calibri" pitchFamily="34" charset="0"/>
                <a:ea typeface="Calibri" pitchFamily="34" charset="-122"/>
                <a:cs typeface="Calibri" pitchFamily="34" charset="-120"/>
              </a:rPr>
              <a:t>LINUX SYSTEM MONITORING TOOL</a:t>
            </a:r>
            <a:endParaRPr lang="en-US" sz="900" dirty="0"/>
          </a:p>
        </p:txBody>
      </p:sp>
      <p:sp>
        <p:nvSpPr>
          <p:cNvPr id="23" name="Text 18"/>
          <p:cNvSpPr txBox="1"/>
          <p:nvPr/>
        </p:nvSpPr>
        <p:spPr>
          <a:xfrm>
            <a:off x="11338560" y="6519672"/>
            <a:ext cx="365760" cy="274320"/>
          </a:xfrm>
          <a:prstGeom prst="rect">
            <a:avLst/>
          </a:prstGeom>
          <a:noFill/>
          <a:ln/>
        </p:spPr>
        <p:txBody>
          <a:bodyPr wrap="square" rtlCol="0" anchor="ctr"/>
          <a:lstStyle/>
          <a:p>
            <a:pPr marL="0" indent="0" algn="r">
              <a:buNone/>
            </a:pPr>
            <a:r>
              <a:rPr lang="en-US" sz="900" dirty="0">
                <a:solidFill>
                  <a:srgbClr val="8B949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5486400" cy="274320"/>
          </a:xfrm>
          <a:prstGeom prst="rect">
            <a:avLst/>
          </a:prstGeom>
          <a:noFill/>
          <a:ln/>
        </p:spPr>
        <p:txBody>
          <a:bodyPr wrap="square" rtlCol="0" anchor="ctr"/>
          <a:lstStyle/>
          <a:p>
            <a:pPr marL="0" indent="0">
              <a:buNone/>
            </a:pPr>
            <a:r>
              <a:rPr lang="en-US" sz="1100" b="1" kern="0" spc="200" dirty="0">
                <a:solidFill>
                  <a:srgbClr val="3FB950"/>
                </a:solidFill>
                <a:latin typeface="Calibri" pitchFamily="34" charset="0"/>
                <a:ea typeface="Calibri" pitchFamily="34" charset="-122"/>
                <a:cs typeface="Calibri" pitchFamily="34" charset="-120"/>
              </a:rPr>
              <a:t>UNDER THE HOOD</a:t>
            </a:r>
            <a:endParaRPr lang="en-US" sz="1100" dirty="0"/>
          </a:p>
        </p:txBody>
      </p:sp>
      <p:sp>
        <p:nvSpPr>
          <p:cNvPr id="3" name="Text 1"/>
          <p:cNvSpPr txBox="1"/>
          <p:nvPr/>
        </p:nvSpPr>
        <p:spPr>
          <a:xfrm>
            <a:off x="548640" y="566928"/>
            <a:ext cx="9144000" cy="640080"/>
          </a:xfrm>
          <a:prstGeom prst="rect">
            <a:avLst/>
          </a:prstGeom>
          <a:noFill/>
          <a:ln/>
        </p:spPr>
        <p:txBody>
          <a:bodyPr wrap="square" rtlCol="0" anchor="ctr"/>
          <a:lstStyle/>
          <a:p>
            <a:pPr marL="0" indent="0">
              <a:buNone/>
            </a:pPr>
            <a:r>
              <a:rPr lang="en-US" sz="3000" b="1" dirty="0">
                <a:solidFill>
                  <a:srgbClr val="E6EDF3"/>
                </a:solidFill>
                <a:latin typeface="Cambria" pitchFamily="34" charset="0"/>
                <a:ea typeface="Cambria" pitchFamily="34" charset="-122"/>
                <a:cs typeface="Cambria" pitchFamily="34" charset="-120"/>
              </a:rPr>
              <a:t>Implementation &amp; Tech Stack</a:t>
            </a:r>
            <a:endParaRPr lang="en-US" sz="3000" dirty="0"/>
          </a:p>
        </p:txBody>
      </p:sp>
      <p:sp>
        <p:nvSpPr>
          <p:cNvPr id="4" name="Shape 2"/>
          <p:cNvSpPr/>
          <p:nvPr/>
        </p:nvSpPr>
        <p:spPr>
          <a:xfrm>
            <a:off x="548640" y="1600200"/>
            <a:ext cx="5349240" cy="1554480"/>
          </a:xfrm>
          <a:prstGeom prst="roundRect">
            <a:avLst>
              <a:gd name="adj" fmla="val 5882"/>
            </a:avLst>
          </a:prstGeom>
          <a:solidFill>
            <a:srgbClr val="161B22"/>
          </a:solidFill>
          <a:ln/>
        </p:spPr>
      </p:sp>
      <p:sp>
        <p:nvSpPr>
          <p:cNvPr id="5" name="Shape 3"/>
          <p:cNvSpPr/>
          <p:nvPr/>
        </p:nvSpPr>
        <p:spPr>
          <a:xfrm>
            <a:off x="804672" y="1856232"/>
            <a:ext cx="566928" cy="566928"/>
          </a:xfrm>
          <a:prstGeom prst="ellipse">
            <a:avLst/>
          </a:prstGeom>
          <a:solidFill>
            <a:srgbClr val="1C2128"/>
          </a:solidFill>
          <a:ln/>
        </p:spPr>
      </p:sp>
      <p:pic>
        <p:nvPicPr>
          <p:cNvPr id="6" name="Image 0" descr="/home/claude/pptx_proj/icon_terminal_3FB950.png"/>
          <p:cNvPicPr>
            <a:picLocks noChangeAspect="1"/>
          </p:cNvPicPr>
          <p:nvPr/>
        </p:nvPicPr>
        <p:blipFill>
          <a:blip r:embed="rId3"/>
          <a:stretch>
            <a:fillRect/>
          </a:stretch>
        </p:blipFill>
        <p:spPr>
          <a:xfrm>
            <a:off x="878373" y="1929933"/>
            <a:ext cx="419527" cy="419527"/>
          </a:xfrm>
          <a:prstGeom prst="rect">
            <a:avLst/>
          </a:prstGeom>
        </p:spPr>
      </p:pic>
      <p:sp>
        <p:nvSpPr>
          <p:cNvPr id="7" name="Text 4"/>
          <p:cNvSpPr txBox="1"/>
          <p:nvPr/>
        </p:nvSpPr>
        <p:spPr>
          <a:xfrm>
            <a:off x="1554480" y="1819656"/>
            <a:ext cx="4114800" cy="411480"/>
          </a:xfrm>
          <a:prstGeom prst="rect">
            <a:avLst/>
          </a:prstGeom>
          <a:noFill/>
          <a:ln/>
        </p:spPr>
        <p:txBody>
          <a:bodyPr wrap="square" rtlCol="0" anchor="ctr"/>
          <a:lstStyle/>
          <a:p>
            <a:pPr marL="0" indent="0">
              <a:buNone/>
            </a:pPr>
            <a:r>
              <a:rPr lang="en-US" sz="1450" b="1" dirty="0">
                <a:solidFill>
                  <a:srgbClr val="E6EDF3"/>
                </a:solidFill>
                <a:latin typeface="Calibri" pitchFamily="34" charset="0"/>
                <a:ea typeface="Calibri" pitchFamily="34" charset="-122"/>
                <a:cs typeface="Calibri" pitchFamily="34" charset="-120"/>
              </a:rPr>
              <a:t>System-Level Programming</a:t>
            </a:r>
            <a:endParaRPr lang="en-US" sz="1450" dirty="0"/>
          </a:p>
        </p:txBody>
      </p:sp>
      <p:sp>
        <p:nvSpPr>
          <p:cNvPr id="8" name="Text 5"/>
          <p:cNvSpPr txBox="1"/>
          <p:nvPr/>
        </p:nvSpPr>
        <p:spPr>
          <a:xfrm>
            <a:off x="1554480" y="2221992"/>
            <a:ext cx="4114800" cy="822960"/>
          </a:xfrm>
          <a:prstGeom prst="rect">
            <a:avLst/>
          </a:prstGeom>
          <a:noFill/>
          <a:ln/>
        </p:spPr>
        <p:txBody>
          <a:bodyPr wrap="square" rtlCol="0" anchor="ctr"/>
          <a:lstStyle/>
          <a:p>
            <a:pPr marL="0" indent="0">
              <a:lnSpc>
                <a:spcPct val="120000"/>
              </a:lnSpc>
              <a:buNone/>
            </a:pPr>
            <a:r>
              <a:rPr lang="en-US" sz="1200" dirty="0">
                <a:solidFill>
                  <a:srgbClr val="8B949E"/>
                </a:solidFill>
                <a:latin typeface="Calibri" pitchFamily="34" charset="0"/>
                <a:ea typeface="Calibri" pitchFamily="34" charset="-122"/>
                <a:cs typeface="Calibri" pitchFamily="34" charset="-120"/>
              </a:rPr>
              <a:t>Direct interaction with kernel interfaces for low-overhead, accurate data collection.</a:t>
            </a:r>
            <a:endParaRPr lang="en-US" sz="1200" dirty="0"/>
          </a:p>
        </p:txBody>
      </p:sp>
      <p:sp>
        <p:nvSpPr>
          <p:cNvPr id="9" name="Shape 6"/>
          <p:cNvSpPr/>
          <p:nvPr/>
        </p:nvSpPr>
        <p:spPr>
          <a:xfrm>
            <a:off x="6217920" y="1600200"/>
            <a:ext cx="5349240" cy="1554480"/>
          </a:xfrm>
          <a:prstGeom prst="roundRect">
            <a:avLst>
              <a:gd name="adj" fmla="val 5882"/>
            </a:avLst>
          </a:prstGeom>
          <a:solidFill>
            <a:srgbClr val="161B22"/>
          </a:solidFill>
          <a:ln/>
        </p:spPr>
      </p:sp>
      <p:sp>
        <p:nvSpPr>
          <p:cNvPr id="10" name="Shape 7"/>
          <p:cNvSpPr/>
          <p:nvPr/>
        </p:nvSpPr>
        <p:spPr>
          <a:xfrm>
            <a:off x="6473952" y="1856232"/>
            <a:ext cx="566928" cy="566928"/>
          </a:xfrm>
          <a:prstGeom prst="ellipse">
            <a:avLst/>
          </a:prstGeom>
          <a:solidFill>
            <a:srgbClr val="1C2128"/>
          </a:solidFill>
          <a:ln/>
        </p:spPr>
      </p:sp>
      <p:pic>
        <p:nvPicPr>
          <p:cNvPr id="11" name="Image 1" descr="/home/claude/pptx_proj/icon_layers_3FB950.png"/>
          <p:cNvPicPr>
            <a:picLocks noChangeAspect="1"/>
          </p:cNvPicPr>
          <p:nvPr/>
        </p:nvPicPr>
        <p:blipFill>
          <a:blip r:embed="rId4"/>
          <a:stretch>
            <a:fillRect/>
          </a:stretch>
        </p:blipFill>
        <p:spPr>
          <a:xfrm>
            <a:off x="6547653" y="1929933"/>
            <a:ext cx="419527" cy="419527"/>
          </a:xfrm>
          <a:prstGeom prst="rect">
            <a:avLst/>
          </a:prstGeom>
        </p:spPr>
      </p:pic>
      <p:sp>
        <p:nvSpPr>
          <p:cNvPr id="12" name="Text 8"/>
          <p:cNvSpPr txBox="1"/>
          <p:nvPr/>
        </p:nvSpPr>
        <p:spPr>
          <a:xfrm>
            <a:off x="7223760" y="1819656"/>
            <a:ext cx="4114800" cy="411480"/>
          </a:xfrm>
          <a:prstGeom prst="rect">
            <a:avLst/>
          </a:prstGeom>
          <a:noFill/>
          <a:ln/>
        </p:spPr>
        <p:txBody>
          <a:bodyPr wrap="square" rtlCol="0" anchor="ctr"/>
          <a:lstStyle/>
          <a:p>
            <a:pPr marL="0" indent="0">
              <a:buNone/>
            </a:pPr>
            <a:r>
              <a:rPr lang="en-US" sz="1450" b="1" dirty="0">
                <a:solidFill>
                  <a:srgbClr val="E6EDF3"/>
                </a:solidFill>
                <a:latin typeface="Calibri" pitchFamily="34" charset="0"/>
                <a:ea typeface="Calibri" pitchFamily="34" charset="-122"/>
                <a:cs typeface="Calibri" pitchFamily="34" charset="-120"/>
              </a:rPr>
              <a:t>Efficient Data Structures</a:t>
            </a:r>
            <a:endParaRPr lang="en-US" sz="1450" dirty="0"/>
          </a:p>
        </p:txBody>
      </p:sp>
      <p:sp>
        <p:nvSpPr>
          <p:cNvPr id="13" name="Text 9"/>
          <p:cNvSpPr txBox="1"/>
          <p:nvPr/>
        </p:nvSpPr>
        <p:spPr>
          <a:xfrm>
            <a:off x="7223760" y="2221992"/>
            <a:ext cx="4114800" cy="822960"/>
          </a:xfrm>
          <a:prstGeom prst="rect">
            <a:avLst/>
          </a:prstGeom>
          <a:noFill/>
          <a:ln/>
        </p:spPr>
        <p:txBody>
          <a:bodyPr wrap="square" rtlCol="0" anchor="ctr"/>
          <a:lstStyle/>
          <a:p>
            <a:pPr marL="0" indent="0">
              <a:lnSpc>
                <a:spcPct val="120000"/>
              </a:lnSpc>
              <a:buNone/>
            </a:pPr>
            <a:r>
              <a:rPr lang="en-US" sz="1200" dirty="0">
                <a:solidFill>
                  <a:srgbClr val="8B949E"/>
                </a:solidFill>
                <a:latin typeface="Calibri" pitchFamily="34" charset="0"/>
                <a:ea typeface="Calibri" pitchFamily="34" charset="-122"/>
                <a:cs typeface="Calibri" pitchFamily="34" charset="-120"/>
              </a:rPr>
              <a:t>Structures optimized for fast storage and retrieval of frequently updated metrics.</a:t>
            </a:r>
            <a:endParaRPr lang="en-US" sz="1200" dirty="0"/>
          </a:p>
        </p:txBody>
      </p:sp>
      <p:sp>
        <p:nvSpPr>
          <p:cNvPr id="14" name="Shape 10"/>
          <p:cNvSpPr/>
          <p:nvPr/>
        </p:nvSpPr>
        <p:spPr>
          <a:xfrm>
            <a:off x="548640" y="3429000"/>
            <a:ext cx="5349240" cy="1554480"/>
          </a:xfrm>
          <a:prstGeom prst="roundRect">
            <a:avLst>
              <a:gd name="adj" fmla="val 5882"/>
            </a:avLst>
          </a:prstGeom>
          <a:solidFill>
            <a:srgbClr val="161B22"/>
          </a:solidFill>
          <a:ln/>
        </p:spPr>
      </p:sp>
      <p:sp>
        <p:nvSpPr>
          <p:cNvPr id="15" name="Shape 11"/>
          <p:cNvSpPr/>
          <p:nvPr/>
        </p:nvSpPr>
        <p:spPr>
          <a:xfrm>
            <a:off x="804672" y="3685032"/>
            <a:ext cx="566928" cy="566928"/>
          </a:xfrm>
          <a:prstGeom prst="ellipse">
            <a:avLst/>
          </a:prstGeom>
          <a:solidFill>
            <a:srgbClr val="1C2128"/>
          </a:solidFill>
          <a:ln/>
        </p:spPr>
      </p:sp>
      <p:pic>
        <p:nvPicPr>
          <p:cNvPr id="16" name="Image 2" descr="/home/claude/pptx_proj/icon_chart_3FB950.png"/>
          <p:cNvPicPr>
            <a:picLocks noChangeAspect="1"/>
          </p:cNvPicPr>
          <p:nvPr/>
        </p:nvPicPr>
        <p:blipFill>
          <a:blip r:embed="rId5"/>
          <a:stretch>
            <a:fillRect/>
          </a:stretch>
        </p:blipFill>
        <p:spPr>
          <a:xfrm>
            <a:off x="878373" y="3758733"/>
            <a:ext cx="419527" cy="419527"/>
          </a:xfrm>
          <a:prstGeom prst="rect">
            <a:avLst/>
          </a:prstGeom>
        </p:spPr>
      </p:pic>
      <p:sp>
        <p:nvSpPr>
          <p:cNvPr id="17" name="Text 12"/>
          <p:cNvSpPr txBox="1"/>
          <p:nvPr/>
        </p:nvSpPr>
        <p:spPr>
          <a:xfrm>
            <a:off x="1554480" y="3648456"/>
            <a:ext cx="4114800" cy="411480"/>
          </a:xfrm>
          <a:prstGeom prst="rect">
            <a:avLst/>
          </a:prstGeom>
          <a:noFill/>
          <a:ln/>
        </p:spPr>
        <p:txBody>
          <a:bodyPr wrap="square" rtlCol="0" anchor="ctr"/>
          <a:lstStyle/>
          <a:p>
            <a:pPr marL="0" indent="0">
              <a:buNone/>
            </a:pPr>
            <a:r>
              <a:rPr lang="en-US" sz="1450" b="1" dirty="0">
                <a:solidFill>
                  <a:srgbClr val="E6EDF3"/>
                </a:solidFill>
                <a:latin typeface="Calibri" pitchFamily="34" charset="0"/>
                <a:ea typeface="Calibri" pitchFamily="34" charset="-122"/>
                <a:cs typeface="Calibri" pitchFamily="34" charset="-120"/>
              </a:rPr>
              <a:t>Polling &amp; Refresh Algorithms</a:t>
            </a:r>
            <a:endParaRPr lang="en-US" sz="1450" dirty="0"/>
          </a:p>
        </p:txBody>
      </p:sp>
      <p:sp>
        <p:nvSpPr>
          <p:cNvPr id="18" name="Text 13"/>
          <p:cNvSpPr txBox="1"/>
          <p:nvPr/>
        </p:nvSpPr>
        <p:spPr>
          <a:xfrm>
            <a:off x="1554480" y="4050792"/>
            <a:ext cx="4114800" cy="822960"/>
          </a:xfrm>
          <a:prstGeom prst="rect">
            <a:avLst/>
          </a:prstGeom>
          <a:noFill/>
          <a:ln/>
        </p:spPr>
        <p:txBody>
          <a:bodyPr wrap="square" rtlCol="0" anchor="ctr"/>
          <a:lstStyle/>
          <a:p>
            <a:pPr marL="0" indent="0">
              <a:lnSpc>
                <a:spcPct val="120000"/>
              </a:lnSpc>
              <a:buNone/>
            </a:pPr>
            <a:r>
              <a:rPr lang="en-US" sz="1200" dirty="0">
                <a:solidFill>
                  <a:srgbClr val="8B949E"/>
                </a:solidFill>
                <a:latin typeface="Calibri" pitchFamily="34" charset="0"/>
                <a:ea typeface="Calibri" pitchFamily="34" charset="-122"/>
                <a:cs typeface="Calibri" pitchFamily="34" charset="-120"/>
              </a:rPr>
              <a:t>Periodic aggregation logic that keeps displayed data current in real time.</a:t>
            </a:r>
            <a:endParaRPr lang="en-US" sz="1200" dirty="0"/>
          </a:p>
        </p:txBody>
      </p:sp>
      <p:sp>
        <p:nvSpPr>
          <p:cNvPr id="19" name="Shape 14"/>
          <p:cNvSpPr/>
          <p:nvPr/>
        </p:nvSpPr>
        <p:spPr>
          <a:xfrm>
            <a:off x="6217920" y="3429000"/>
            <a:ext cx="5349240" cy="1554480"/>
          </a:xfrm>
          <a:prstGeom prst="roundRect">
            <a:avLst>
              <a:gd name="adj" fmla="val 5882"/>
            </a:avLst>
          </a:prstGeom>
          <a:solidFill>
            <a:srgbClr val="161B22"/>
          </a:solidFill>
          <a:ln/>
        </p:spPr>
      </p:sp>
      <p:sp>
        <p:nvSpPr>
          <p:cNvPr id="20" name="Shape 15"/>
          <p:cNvSpPr/>
          <p:nvPr/>
        </p:nvSpPr>
        <p:spPr>
          <a:xfrm>
            <a:off x="6473952" y="3685032"/>
            <a:ext cx="566928" cy="566928"/>
          </a:xfrm>
          <a:prstGeom prst="ellipse">
            <a:avLst/>
          </a:prstGeom>
          <a:solidFill>
            <a:srgbClr val="1C2128"/>
          </a:solidFill>
          <a:ln/>
        </p:spPr>
      </p:sp>
      <p:pic>
        <p:nvPicPr>
          <p:cNvPr id="21" name="Image 3" descr="/home/claude/pptx_proj/icon_cogs_3FB950.png"/>
          <p:cNvPicPr>
            <a:picLocks noChangeAspect="1"/>
          </p:cNvPicPr>
          <p:nvPr/>
        </p:nvPicPr>
        <p:blipFill>
          <a:blip r:embed="rId6"/>
          <a:stretch>
            <a:fillRect/>
          </a:stretch>
        </p:blipFill>
        <p:spPr>
          <a:xfrm>
            <a:off x="6547653" y="3758733"/>
            <a:ext cx="419527" cy="419527"/>
          </a:xfrm>
          <a:prstGeom prst="rect">
            <a:avLst/>
          </a:prstGeom>
        </p:spPr>
      </p:pic>
      <p:sp>
        <p:nvSpPr>
          <p:cNvPr id="22" name="Text 16"/>
          <p:cNvSpPr txBox="1"/>
          <p:nvPr/>
        </p:nvSpPr>
        <p:spPr>
          <a:xfrm>
            <a:off x="7223760" y="3648456"/>
            <a:ext cx="4114800" cy="411480"/>
          </a:xfrm>
          <a:prstGeom prst="rect">
            <a:avLst/>
          </a:prstGeom>
          <a:noFill/>
          <a:ln/>
        </p:spPr>
        <p:txBody>
          <a:bodyPr wrap="square" rtlCol="0" anchor="ctr"/>
          <a:lstStyle/>
          <a:p>
            <a:pPr marL="0" indent="0">
              <a:buNone/>
            </a:pPr>
            <a:r>
              <a:rPr lang="en-US" sz="1450" b="1" dirty="0">
                <a:solidFill>
                  <a:srgbClr val="E6EDF3"/>
                </a:solidFill>
                <a:latin typeface="Calibri" pitchFamily="34" charset="0"/>
                <a:ea typeface="Calibri" pitchFamily="34" charset="-122"/>
                <a:cs typeface="Calibri" pitchFamily="34" charset="-120"/>
              </a:rPr>
              <a:t>Modular Components</a:t>
            </a:r>
            <a:endParaRPr lang="en-US" sz="1450" dirty="0"/>
          </a:p>
        </p:txBody>
      </p:sp>
      <p:sp>
        <p:nvSpPr>
          <p:cNvPr id="23" name="Text 17"/>
          <p:cNvSpPr txBox="1"/>
          <p:nvPr/>
        </p:nvSpPr>
        <p:spPr>
          <a:xfrm>
            <a:off x="7223760" y="4050792"/>
            <a:ext cx="4114800" cy="822960"/>
          </a:xfrm>
          <a:prstGeom prst="rect">
            <a:avLst/>
          </a:prstGeom>
          <a:noFill/>
          <a:ln/>
        </p:spPr>
        <p:txBody>
          <a:bodyPr wrap="square" rtlCol="0" anchor="ctr"/>
          <a:lstStyle/>
          <a:p>
            <a:pPr marL="0" indent="0">
              <a:lnSpc>
                <a:spcPct val="120000"/>
              </a:lnSpc>
              <a:buNone/>
            </a:pPr>
            <a:r>
              <a:rPr lang="en-US" sz="1200" dirty="0">
                <a:solidFill>
                  <a:srgbClr val="8B949E"/>
                </a:solidFill>
                <a:latin typeface="Calibri" pitchFamily="34" charset="0"/>
                <a:ea typeface="Calibri" pitchFamily="34" charset="-122"/>
                <a:cs typeface="Calibri" pitchFamily="34" charset="-120"/>
              </a:rPr>
              <a:t>Independent, extensible modules for CPU, memory, disk, and network monitoring.</a:t>
            </a:r>
            <a:endParaRPr lang="en-US" sz="1200" dirty="0"/>
          </a:p>
        </p:txBody>
      </p:sp>
      <p:sp>
        <p:nvSpPr>
          <p:cNvPr id="24" name="Text 18"/>
          <p:cNvSpPr txBox="1"/>
          <p:nvPr/>
        </p:nvSpPr>
        <p:spPr>
          <a:xfrm>
            <a:off x="457200" y="6519672"/>
            <a:ext cx="5486400" cy="274320"/>
          </a:xfrm>
          <a:prstGeom prst="rect">
            <a:avLst/>
          </a:prstGeom>
          <a:noFill/>
          <a:ln/>
        </p:spPr>
        <p:txBody>
          <a:bodyPr wrap="square" rtlCol="0" anchor="ctr"/>
          <a:lstStyle/>
          <a:p>
            <a:pPr marL="0" indent="0">
              <a:buNone/>
            </a:pPr>
            <a:r>
              <a:rPr lang="en-US" sz="900" kern="0" spc="100" dirty="0">
                <a:solidFill>
                  <a:srgbClr val="8B949E"/>
                </a:solidFill>
                <a:latin typeface="Calibri" pitchFamily="34" charset="0"/>
                <a:ea typeface="Calibri" pitchFamily="34" charset="-122"/>
                <a:cs typeface="Calibri" pitchFamily="34" charset="-120"/>
              </a:rPr>
              <a:t>LINUX SYSTEM MONITORING TOOL</a:t>
            </a:r>
            <a:endParaRPr lang="en-US" sz="900" dirty="0"/>
          </a:p>
        </p:txBody>
      </p:sp>
      <p:sp>
        <p:nvSpPr>
          <p:cNvPr id="25" name="Text 19"/>
          <p:cNvSpPr txBox="1"/>
          <p:nvPr/>
        </p:nvSpPr>
        <p:spPr>
          <a:xfrm>
            <a:off x="11338560" y="6519672"/>
            <a:ext cx="365760" cy="274320"/>
          </a:xfrm>
          <a:prstGeom prst="rect">
            <a:avLst/>
          </a:prstGeom>
          <a:noFill/>
          <a:ln/>
        </p:spPr>
        <p:txBody>
          <a:bodyPr wrap="square" rtlCol="0" anchor="ctr"/>
          <a:lstStyle/>
          <a:p>
            <a:pPr marL="0" indent="0" algn="r">
              <a:buNone/>
            </a:pPr>
            <a:r>
              <a:rPr lang="en-US" sz="900" dirty="0">
                <a:solidFill>
                  <a:srgbClr val="8B949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548640" y="502920"/>
            <a:ext cx="640080" cy="640080"/>
          </a:xfrm>
          <a:prstGeom prst="ellipse">
            <a:avLst/>
          </a:prstGeom>
          <a:solidFill>
            <a:srgbClr val="1C2128"/>
          </a:solidFill>
          <a:ln/>
        </p:spPr>
      </p:sp>
      <p:pic>
        <p:nvPicPr>
          <p:cNvPr id="3" name="Image 0" descr="/home/claude/pptx_proj/icon_rocket_3FB950.png"/>
          <p:cNvPicPr>
            <a:picLocks noChangeAspect="1"/>
          </p:cNvPicPr>
          <p:nvPr/>
        </p:nvPicPr>
        <p:blipFill>
          <a:blip r:embed="rId3"/>
          <a:stretch>
            <a:fillRect/>
          </a:stretch>
        </p:blipFill>
        <p:spPr>
          <a:xfrm>
            <a:off x="631850" y="586130"/>
            <a:ext cx="473659" cy="473659"/>
          </a:xfrm>
          <a:prstGeom prst="rect">
            <a:avLst/>
          </a:prstGeom>
        </p:spPr>
      </p:pic>
      <p:sp>
        <p:nvSpPr>
          <p:cNvPr id="4" name="Text 1"/>
          <p:cNvSpPr txBox="1"/>
          <p:nvPr/>
        </p:nvSpPr>
        <p:spPr>
          <a:xfrm>
            <a:off x="1371600" y="502920"/>
            <a:ext cx="9144000" cy="640080"/>
          </a:xfrm>
          <a:prstGeom prst="rect">
            <a:avLst/>
          </a:prstGeom>
          <a:noFill/>
          <a:ln/>
        </p:spPr>
        <p:txBody>
          <a:bodyPr wrap="square" rtlCol="0" anchor="ctr"/>
          <a:lstStyle/>
          <a:p>
            <a:pPr marL="0" indent="0">
              <a:buNone/>
            </a:pPr>
            <a:r>
              <a:rPr lang="en-US" sz="3200" b="1" dirty="0">
                <a:solidFill>
                  <a:srgbClr val="E6EDF3"/>
                </a:solidFill>
                <a:latin typeface="Cambria" pitchFamily="34" charset="0"/>
                <a:ea typeface="Cambria" pitchFamily="34" charset="-122"/>
                <a:cs typeface="Cambria" pitchFamily="34" charset="-120"/>
              </a:rPr>
              <a:t>Conclusion &amp; Future Scope</a:t>
            </a:r>
            <a:endParaRPr lang="en-US" sz="3200" dirty="0"/>
          </a:p>
        </p:txBody>
      </p:sp>
      <p:sp>
        <p:nvSpPr>
          <p:cNvPr id="5" name="Shape 2"/>
          <p:cNvSpPr/>
          <p:nvPr/>
        </p:nvSpPr>
        <p:spPr>
          <a:xfrm>
            <a:off x="548640" y="1371600"/>
            <a:ext cx="11091672" cy="0"/>
          </a:xfrm>
          <a:prstGeom prst="line">
            <a:avLst/>
          </a:prstGeom>
          <a:noFill/>
          <a:ln w="12700">
            <a:solidFill>
              <a:srgbClr val="30363D"/>
            </a:solidFill>
            <a:prstDash val="solid"/>
          </a:ln>
        </p:spPr>
      </p:sp>
      <p:sp>
        <p:nvSpPr>
          <p:cNvPr id="6" name="Text 3"/>
          <p:cNvSpPr txBox="1"/>
          <p:nvPr/>
        </p:nvSpPr>
        <p:spPr>
          <a:xfrm>
            <a:off x="548640" y="1691640"/>
            <a:ext cx="5303520" cy="320040"/>
          </a:xfrm>
          <a:prstGeom prst="rect">
            <a:avLst/>
          </a:prstGeom>
          <a:noFill/>
          <a:ln/>
        </p:spPr>
        <p:txBody>
          <a:bodyPr wrap="square" rtlCol="0" anchor="ctr"/>
          <a:lstStyle/>
          <a:p>
            <a:pPr marL="0" indent="0">
              <a:buNone/>
            </a:pPr>
            <a:r>
              <a:rPr lang="en-US" sz="1200" b="1" kern="0" spc="150" dirty="0">
                <a:solidFill>
                  <a:srgbClr val="3FB950"/>
                </a:solidFill>
                <a:latin typeface="Calibri" pitchFamily="34" charset="0"/>
                <a:ea typeface="Calibri" pitchFamily="34" charset="-122"/>
                <a:cs typeface="Calibri" pitchFamily="34" charset="-120"/>
              </a:rPr>
              <a:t>VALUE DELIVERED</a:t>
            </a:r>
            <a:endParaRPr lang="en-US" sz="1200" dirty="0"/>
          </a:p>
        </p:txBody>
      </p:sp>
      <p:sp>
        <p:nvSpPr>
          <p:cNvPr id="7" name="Text 4"/>
          <p:cNvSpPr txBox="1"/>
          <p:nvPr/>
        </p:nvSpPr>
        <p:spPr>
          <a:xfrm>
            <a:off x="548640" y="2103120"/>
            <a:ext cx="5303520" cy="2103120"/>
          </a:xfrm>
          <a:prstGeom prst="rect">
            <a:avLst/>
          </a:prstGeom>
          <a:noFill/>
          <a:ln/>
        </p:spPr>
        <p:txBody>
          <a:bodyPr wrap="square" rtlCol="0" anchor="ctr"/>
          <a:lstStyle/>
          <a:p>
            <a:pPr marL="342900" indent="-342900">
              <a:lnSpc>
                <a:spcPct val="130000"/>
              </a:lnSpc>
              <a:spcAft>
                <a:spcPts val="1200"/>
              </a:spcAft>
              <a:buSzPct val="100000"/>
              <a:buChar char="✦"/>
            </a:pPr>
            <a:r>
              <a:rPr lang="en-US" sz="1400" dirty="0">
                <a:solidFill>
                  <a:srgbClr val="E6EDF3"/>
                </a:solidFill>
                <a:latin typeface="Calibri" pitchFamily="34" charset="0"/>
                <a:ea typeface="Calibri" pitchFamily="34" charset="-122"/>
                <a:cs typeface="Calibri" pitchFamily="34" charset="-120"/>
              </a:rPr>
              <a:t>Gives sysadmins &amp; developers real-time visibility into system health</a:t>
            </a:r>
            <a:endParaRPr lang="en-US" sz="1400" dirty="0"/>
          </a:p>
          <a:p>
            <a:pPr marL="342900" indent="-342900">
              <a:lnSpc>
                <a:spcPct val="130000"/>
              </a:lnSpc>
              <a:spcAft>
                <a:spcPts val="1200"/>
              </a:spcAft>
              <a:buSzPct val="100000"/>
              <a:buChar char="✦"/>
            </a:pPr>
            <a:r>
              <a:rPr lang="en-US" sz="1400" dirty="0">
                <a:solidFill>
                  <a:srgbClr val="E6EDF3"/>
                </a:solidFill>
                <a:latin typeface="Calibri" pitchFamily="34" charset="0"/>
                <a:ea typeface="Calibri" pitchFamily="34" charset="-122"/>
                <a:cs typeface="Calibri" pitchFamily="34" charset="-120"/>
              </a:rPr>
              <a:t>Lightweight design keeps monitoring overhead minimal</a:t>
            </a:r>
            <a:endParaRPr lang="en-US" sz="1400" dirty="0"/>
          </a:p>
          <a:p>
            <a:pPr marL="342900" indent="-342900">
              <a:lnSpc>
                <a:spcPct val="130000"/>
              </a:lnSpc>
              <a:spcAft>
                <a:spcPts val="1200"/>
              </a:spcAft>
              <a:buSzPct val="100000"/>
              <a:buChar char="✦"/>
            </a:pPr>
            <a:r>
              <a:rPr lang="en-US" sz="1400" dirty="0">
                <a:solidFill>
                  <a:srgbClr val="E6EDF3"/>
                </a:solidFill>
                <a:latin typeface="Calibri" pitchFamily="34" charset="0"/>
                <a:ea typeface="Calibri" pitchFamily="34" charset="-122"/>
                <a:cs typeface="Calibri" pitchFamily="34" charset="-120"/>
              </a:rPr>
              <a:t>Modular architecture makes it easy to extend or customize</a:t>
            </a:r>
            <a:endParaRPr lang="en-US" sz="1400" dirty="0"/>
          </a:p>
        </p:txBody>
      </p:sp>
      <p:sp>
        <p:nvSpPr>
          <p:cNvPr id="8" name="Text 5"/>
          <p:cNvSpPr txBox="1"/>
          <p:nvPr/>
        </p:nvSpPr>
        <p:spPr>
          <a:xfrm>
            <a:off x="6309360" y="1691640"/>
            <a:ext cx="5303520" cy="320040"/>
          </a:xfrm>
          <a:prstGeom prst="rect">
            <a:avLst/>
          </a:prstGeom>
          <a:noFill/>
          <a:ln/>
        </p:spPr>
        <p:txBody>
          <a:bodyPr wrap="square" rtlCol="0" anchor="ctr"/>
          <a:lstStyle/>
          <a:p>
            <a:pPr marL="0" indent="0">
              <a:buNone/>
            </a:pPr>
            <a:r>
              <a:rPr lang="en-US" sz="1200" b="1" kern="0" spc="150" dirty="0">
                <a:solidFill>
                  <a:srgbClr val="3FB950"/>
                </a:solidFill>
                <a:latin typeface="Calibri" pitchFamily="34" charset="0"/>
                <a:ea typeface="Calibri" pitchFamily="34" charset="-122"/>
                <a:cs typeface="Calibri" pitchFamily="34" charset="-120"/>
              </a:rPr>
              <a:t>FUTURE SCOPE</a:t>
            </a:r>
            <a:endParaRPr lang="en-US" sz="1200" dirty="0"/>
          </a:p>
        </p:txBody>
      </p:sp>
      <p:sp>
        <p:nvSpPr>
          <p:cNvPr id="9" name="Text 6"/>
          <p:cNvSpPr txBox="1"/>
          <p:nvPr/>
        </p:nvSpPr>
        <p:spPr>
          <a:xfrm>
            <a:off x="6309360" y="2103120"/>
            <a:ext cx="5303520" cy="2560320"/>
          </a:xfrm>
          <a:prstGeom prst="rect">
            <a:avLst/>
          </a:prstGeom>
          <a:noFill/>
          <a:ln/>
        </p:spPr>
        <p:txBody>
          <a:bodyPr wrap="square" rtlCol="0" anchor="ctr"/>
          <a:lstStyle/>
          <a:p>
            <a:pPr marL="342900" indent="-342900">
              <a:lnSpc>
                <a:spcPct val="130000"/>
              </a:lnSpc>
              <a:spcAft>
                <a:spcPts val="1200"/>
              </a:spcAft>
              <a:buSzPct val="100000"/>
              <a:buChar char="✦"/>
            </a:pPr>
            <a:r>
              <a:rPr lang="en-US" sz="1400" dirty="0">
                <a:solidFill>
                  <a:srgbClr val="E6EDF3"/>
                </a:solidFill>
                <a:latin typeface="Calibri" pitchFamily="34" charset="0"/>
                <a:ea typeface="Calibri" pitchFamily="34" charset="-122"/>
                <a:cs typeface="Calibri" pitchFamily="34" charset="-120"/>
              </a:rPr>
              <a:t>Graphical dashboard with live charts</a:t>
            </a:r>
            <a:endParaRPr lang="en-US" sz="1400" dirty="0"/>
          </a:p>
          <a:p>
            <a:pPr marL="342900" indent="-342900">
              <a:lnSpc>
                <a:spcPct val="130000"/>
              </a:lnSpc>
              <a:spcAft>
                <a:spcPts val="1200"/>
              </a:spcAft>
              <a:buSzPct val="100000"/>
              <a:buChar char="✦"/>
            </a:pPr>
            <a:r>
              <a:rPr lang="en-US" sz="1400" dirty="0">
                <a:solidFill>
                  <a:srgbClr val="E6EDF3"/>
                </a:solidFill>
                <a:latin typeface="Calibri" pitchFamily="34" charset="0"/>
                <a:ea typeface="Calibri" pitchFamily="34" charset="-122"/>
                <a:cs typeface="Calibri" pitchFamily="34" charset="-120"/>
              </a:rPr>
              <a:t>Historical logging &amp; trend analysis</a:t>
            </a:r>
            <a:endParaRPr lang="en-US" sz="1400" dirty="0"/>
          </a:p>
          <a:p>
            <a:pPr marL="342900" indent="-342900">
              <a:lnSpc>
                <a:spcPct val="130000"/>
              </a:lnSpc>
              <a:spcAft>
                <a:spcPts val="1200"/>
              </a:spcAft>
              <a:buSzPct val="100000"/>
              <a:buChar char="✦"/>
            </a:pPr>
            <a:r>
              <a:rPr lang="en-US" sz="1400" dirty="0">
                <a:solidFill>
                  <a:srgbClr val="E6EDF3"/>
                </a:solidFill>
                <a:latin typeface="Calibri" pitchFamily="34" charset="0"/>
                <a:ea typeface="Calibri" pitchFamily="34" charset="-122"/>
                <a:cs typeface="Calibri" pitchFamily="34" charset="-120"/>
              </a:rPr>
              <a:t>Threshold-based alerting &amp; notifications</a:t>
            </a:r>
            <a:endParaRPr lang="en-US" sz="1400" dirty="0"/>
          </a:p>
          <a:p>
            <a:pPr marL="342900" indent="-342900">
              <a:lnSpc>
                <a:spcPct val="130000"/>
              </a:lnSpc>
              <a:spcAft>
                <a:spcPts val="1200"/>
              </a:spcAft>
              <a:buSzPct val="100000"/>
              <a:buChar char="✦"/>
            </a:pPr>
            <a:r>
              <a:rPr lang="en-US" sz="1400" dirty="0">
                <a:solidFill>
                  <a:srgbClr val="E6EDF3"/>
                </a:solidFill>
                <a:latin typeface="Calibri" pitchFamily="34" charset="0"/>
                <a:ea typeface="Calibri" pitchFamily="34" charset="-122"/>
                <a:cs typeface="Calibri" pitchFamily="34" charset="-120"/>
              </a:rPr>
              <a:t>Cross-distribution packaging &amp; deployment</a:t>
            </a:r>
            <a:endParaRPr lang="en-US" sz="1400" dirty="0"/>
          </a:p>
        </p:txBody>
      </p:sp>
      <p:sp>
        <p:nvSpPr>
          <p:cNvPr id="10" name="Shape 7"/>
          <p:cNvSpPr/>
          <p:nvPr/>
        </p:nvSpPr>
        <p:spPr>
          <a:xfrm>
            <a:off x="548640" y="5394960"/>
            <a:ext cx="11091672" cy="914400"/>
          </a:xfrm>
          <a:prstGeom prst="roundRect">
            <a:avLst>
              <a:gd name="adj" fmla="val 10000"/>
            </a:avLst>
          </a:prstGeom>
          <a:solidFill>
            <a:srgbClr val="161B22"/>
          </a:solidFill>
          <a:ln/>
        </p:spPr>
      </p:sp>
      <p:sp>
        <p:nvSpPr>
          <p:cNvPr id="11" name="Text 8"/>
          <p:cNvSpPr txBox="1"/>
          <p:nvPr/>
        </p:nvSpPr>
        <p:spPr>
          <a:xfrm>
            <a:off x="914400" y="5394960"/>
            <a:ext cx="10360152" cy="914400"/>
          </a:xfrm>
          <a:prstGeom prst="rect">
            <a:avLst/>
          </a:prstGeom>
          <a:noFill/>
          <a:ln/>
        </p:spPr>
        <p:txBody>
          <a:bodyPr wrap="square" rtlCol="0" anchor="ctr"/>
          <a:lstStyle/>
          <a:p>
            <a:pPr marL="0" indent="0" algn="ctr">
              <a:buNone/>
            </a:pPr>
            <a:r>
              <a:rPr lang="en-US" sz="1400" i="1" dirty="0">
                <a:solidFill>
                  <a:srgbClr val="E6EDF3"/>
                </a:solidFill>
                <a:latin typeface="Calibri" pitchFamily="34" charset="0"/>
                <a:ea typeface="Calibri" pitchFamily="34" charset="-122"/>
                <a:cs typeface="Calibri" pitchFamily="34" charset="-120"/>
              </a:rPr>
              <a:t>A practical demonstration of OS internals, Linux fundamentals, and software engineering principles in a functional diagnostic utility.</a:t>
            </a:r>
            <a:endParaRPr lang="en-US" sz="1400" dirty="0"/>
          </a:p>
        </p:txBody>
      </p:sp>
      <p:sp>
        <p:nvSpPr>
          <p:cNvPr id="12" name="Text 9"/>
          <p:cNvSpPr txBox="1"/>
          <p:nvPr/>
        </p:nvSpPr>
        <p:spPr>
          <a:xfrm>
            <a:off x="457200" y="6519672"/>
            <a:ext cx="5486400" cy="274320"/>
          </a:xfrm>
          <a:prstGeom prst="rect">
            <a:avLst/>
          </a:prstGeom>
          <a:noFill/>
          <a:ln/>
        </p:spPr>
        <p:txBody>
          <a:bodyPr wrap="square" rtlCol="0" anchor="ctr"/>
          <a:lstStyle/>
          <a:p>
            <a:pPr marL="0" indent="0">
              <a:buNone/>
            </a:pPr>
            <a:r>
              <a:rPr lang="en-US" sz="900" kern="0" spc="100" dirty="0">
                <a:solidFill>
                  <a:srgbClr val="8B949E"/>
                </a:solidFill>
                <a:latin typeface="Calibri" pitchFamily="34" charset="0"/>
                <a:ea typeface="Calibri" pitchFamily="34" charset="-122"/>
                <a:cs typeface="Calibri" pitchFamily="34" charset="-120"/>
              </a:rPr>
              <a:t>LINUX SYSTEM MONITORING TOOL</a:t>
            </a:r>
            <a:endParaRPr lang="en-US" sz="900" dirty="0"/>
          </a:p>
        </p:txBody>
      </p:sp>
      <p:sp>
        <p:nvSpPr>
          <p:cNvPr id="13" name="Text 10"/>
          <p:cNvSpPr txBox="1"/>
          <p:nvPr/>
        </p:nvSpPr>
        <p:spPr>
          <a:xfrm>
            <a:off x="11338560" y="6519672"/>
            <a:ext cx="365760" cy="274320"/>
          </a:xfrm>
          <a:prstGeom prst="rect">
            <a:avLst/>
          </a:prstGeom>
          <a:noFill/>
          <a:ln/>
        </p:spPr>
        <p:txBody>
          <a:bodyPr wrap="square" rtlCol="0" anchor="ctr"/>
          <a:lstStyle/>
          <a:p>
            <a:pPr marL="0" indent="0" algn="r">
              <a:buNone/>
            </a:pPr>
            <a:r>
              <a:rPr lang="en-US" sz="900" dirty="0">
                <a:solidFill>
                  <a:srgbClr val="8B949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7</Slides>
  <Notes>7</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13</cp:revision>
  <dcterms:created xsi:type="dcterms:W3CDTF">2026-09-02T04:55:30Z</dcterms:created>
  <dcterms:modified xsi:type="dcterms:W3CDTF">2026-09-13T10:54:41Z</dcterms:modified>
</cp:coreProperties>
</file>